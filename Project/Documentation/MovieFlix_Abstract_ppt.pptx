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0448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320040"/>
            <a:ext cx="12188952" cy="365760"/>
          </a:xfrm>
          <a:prstGeom prst="rect">
            <a:avLst/>
          </a:prstGeom>
          <a:solidFill>
            <a:srgbClr val="990011"/>
          </a:solidFill>
          <a:ln/>
        </p:spPr>
      </p:sp>
      <p:sp>
        <p:nvSpPr>
          <p:cNvPr id="3" name="Shape 1"/>
          <p:cNvSpPr/>
          <p:nvPr/>
        </p:nvSpPr>
        <p:spPr>
          <a:xfrm>
            <a:off x="137160" y="384048"/>
            <a:ext cx="292608" cy="237744"/>
          </a:xfrm>
          <a:prstGeom prst="rect">
            <a:avLst/>
          </a:prstGeom>
          <a:solidFill>
            <a:srgbClr val="1A1A2E"/>
          </a:solidFill>
          <a:ln/>
        </p:spPr>
      </p:sp>
      <p:sp>
        <p:nvSpPr>
          <p:cNvPr id="4" name="Shape 2"/>
          <p:cNvSpPr/>
          <p:nvPr/>
        </p:nvSpPr>
        <p:spPr>
          <a:xfrm>
            <a:off x="758952" y="384048"/>
            <a:ext cx="292608" cy="237744"/>
          </a:xfrm>
          <a:prstGeom prst="rect">
            <a:avLst/>
          </a:prstGeom>
          <a:solidFill>
            <a:srgbClr val="1A1A2E"/>
          </a:solidFill>
          <a:ln/>
        </p:spPr>
      </p:sp>
      <p:sp>
        <p:nvSpPr>
          <p:cNvPr id="5" name="Shape 3"/>
          <p:cNvSpPr/>
          <p:nvPr/>
        </p:nvSpPr>
        <p:spPr>
          <a:xfrm>
            <a:off x="1380744" y="384048"/>
            <a:ext cx="292608" cy="237744"/>
          </a:xfrm>
          <a:prstGeom prst="rect">
            <a:avLst/>
          </a:prstGeom>
          <a:solidFill>
            <a:srgbClr val="1A1A2E"/>
          </a:solidFill>
          <a:ln/>
        </p:spPr>
      </p:sp>
      <p:sp>
        <p:nvSpPr>
          <p:cNvPr id="6" name="Shape 4"/>
          <p:cNvSpPr/>
          <p:nvPr/>
        </p:nvSpPr>
        <p:spPr>
          <a:xfrm>
            <a:off x="2002536" y="384048"/>
            <a:ext cx="292608" cy="237744"/>
          </a:xfrm>
          <a:prstGeom prst="rect">
            <a:avLst/>
          </a:prstGeom>
          <a:solidFill>
            <a:srgbClr val="1A1A2E"/>
          </a:solidFill>
          <a:ln/>
        </p:spPr>
      </p:sp>
      <p:sp>
        <p:nvSpPr>
          <p:cNvPr id="7" name="Shape 5"/>
          <p:cNvSpPr/>
          <p:nvPr/>
        </p:nvSpPr>
        <p:spPr>
          <a:xfrm>
            <a:off x="2624328" y="384048"/>
            <a:ext cx="292608" cy="237744"/>
          </a:xfrm>
          <a:prstGeom prst="rect">
            <a:avLst/>
          </a:prstGeom>
          <a:solidFill>
            <a:srgbClr val="1A1A2E"/>
          </a:solidFill>
          <a:ln/>
        </p:spPr>
      </p:sp>
      <p:sp>
        <p:nvSpPr>
          <p:cNvPr id="8" name="Shape 6"/>
          <p:cNvSpPr/>
          <p:nvPr/>
        </p:nvSpPr>
        <p:spPr>
          <a:xfrm>
            <a:off x="3246120" y="384048"/>
            <a:ext cx="292608" cy="237744"/>
          </a:xfrm>
          <a:prstGeom prst="rect">
            <a:avLst/>
          </a:prstGeom>
          <a:solidFill>
            <a:srgbClr val="1A1A2E"/>
          </a:solidFill>
          <a:ln/>
        </p:spPr>
      </p:sp>
      <p:sp>
        <p:nvSpPr>
          <p:cNvPr id="9" name="Shape 7"/>
          <p:cNvSpPr/>
          <p:nvPr/>
        </p:nvSpPr>
        <p:spPr>
          <a:xfrm>
            <a:off x="3867912" y="384048"/>
            <a:ext cx="292608" cy="237744"/>
          </a:xfrm>
          <a:prstGeom prst="rect">
            <a:avLst/>
          </a:prstGeom>
          <a:solidFill>
            <a:srgbClr val="1A1A2E"/>
          </a:solidFill>
          <a:ln/>
        </p:spPr>
      </p:sp>
      <p:sp>
        <p:nvSpPr>
          <p:cNvPr id="10" name="Shape 8"/>
          <p:cNvSpPr/>
          <p:nvPr/>
        </p:nvSpPr>
        <p:spPr>
          <a:xfrm>
            <a:off x="4489704" y="384048"/>
            <a:ext cx="292608" cy="237744"/>
          </a:xfrm>
          <a:prstGeom prst="rect">
            <a:avLst/>
          </a:prstGeom>
          <a:solidFill>
            <a:srgbClr val="1A1A2E"/>
          </a:solidFill>
          <a:ln/>
        </p:spPr>
      </p:sp>
      <p:sp>
        <p:nvSpPr>
          <p:cNvPr id="11" name="Shape 9"/>
          <p:cNvSpPr/>
          <p:nvPr/>
        </p:nvSpPr>
        <p:spPr>
          <a:xfrm>
            <a:off x="5111496" y="384048"/>
            <a:ext cx="292608" cy="237744"/>
          </a:xfrm>
          <a:prstGeom prst="rect">
            <a:avLst/>
          </a:prstGeom>
          <a:solidFill>
            <a:srgbClr val="1A1A2E"/>
          </a:solidFill>
          <a:ln/>
        </p:spPr>
      </p:sp>
      <p:sp>
        <p:nvSpPr>
          <p:cNvPr id="12" name="Shape 10"/>
          <p:cNvSpPr/>
          <p:nvPr/>
        </p:nvSpPr>
        <p:spPr>
          <a:xfrm>
            <a:off x="5733288" y="384048"/>
            <a:ext cx="292608" cy="237744"/>
          </a:xfrm>
          <a:prstGeom prst="rect">
            <a:avLst/>
          </a:prstGeom>
          <a:solidFill>
            <a:srgbClr val="1A1A2E"/>
          </a:solidFill>
          <a:ln/>
        </p:spPr>
      </p:sp>
      <p:sp>
        <p:nvSpPr>
          <p:cNvPr id="13" name="Shape 11"/>
          <p:cNvSpPr/>
          <p:nvPr/>
        </p:nvSpPr>
        <p:spPr>
          <a:xfrm>
            <a:off x="6355080" y="384048"/>
            <a:ext cx="292608" cy="237744"/>
          </a:xfrm>
          <a:prstGeom prst="rect">
            <a:avLst/>
          </a:prstGeom>
          <a:solidFill>
            <a:srgbClr val="1A1A2E"/>
          </a:solidFill>
          <a:ln/>
        </p:spPr>
      </p:sp>
      <p:sp>
        <p:nvSpPr>
          <p:cNvPr id="14" name="Shape 12"/>
          <p:cNvSpPr/>
          <p:nvPr/>
        </p:nvSpPr>
        <p:spPr>
          <a:xfrm>
            <a:off x="6976872" y="384048"/>
            <a:ext cx="292608" cy="237744"/>
          </a:xfrm>
          <a:prstGeom prst="rect">
            <a:avLst/>
          </a:prstGeom>
          <a:solidFill>
            <a:srgbClr val="1A1A2E"/>
          </a:solidFill>
          <a:ln/>
        </p:spPr>
      </p:sp>
      <p:sp>
        <p:nvSpPr>
          <p:cNvPr id="15" name="Shape 13"/>
          <p:cNvSpPr/>
          <p:nvPr/>
        </p:nvSpPr>
        <p:spPr>
          <a:xfrm>
            <a:off x="7598664" y="384048"/>
            <a:ext cx="292608" cy="237744"/>
          </a:xfrm>
          <a:prstGeom prst="rect">
            <a:avLst/>
          </a:prstGeom>
          <a:solidFill>
            <a:srgbClr val="1A1A2E"/>
          </a:solidFill>
          <a:ln/>
        </p:spPr>
      </p:sp>
      <p:sp>
        <p:nvSpPr>
          <p:cNvPr id="16" name="Shape 14"/>
          <p:cNvSpPr/>
          <p:nvPr/>
        </p:nvSpPr>
        <p:spPr>
          <a:xfrm>
            <a:off x="8220456" y="384048"/>
            <a:ext cx="292608" cy="237744"/>
          </a:xfrm>
          <a:prstGeom prst="rect">
            <a:avLst/>
          </a:prstGeom>
          <a:solidFill>
            <a:srgbClr val="1A1A2E"/>
          </a:solidFill>
          <a:ln/>
        </p:spPr>
      </p:sp>
      <p:sp>
        <p:nvSpPr>
          <p:cNvPr id="17" name="Shape 15"/>
          <p:cNvSpPr/>
          <p:nvPr/>
        </p:nvSpPr>
        <p:spPr>
          <a:xfrm>
            <a:off x="8842248" y="384048"/>
            <a:ext cx="292608" cy="237744"/>
          </a:xfrm>
          <a:prstGeom prst="rect">
            <a:avLst/>
          </a:prstGeom>
          <a:solidFill>
            <a:srgbClr val="1A1A2E"/>
          </a:solidFill>
          <a:ln/>
        </p:spPr>
      </p:sp>
      <p:sp>
        <p:nvSpPr>
          <p:cNvPr id="18" name="Shape 16"/>
          <p:cNvSpPr/>
          <p:nvPr/>
        </p:nvSpPr>
        <p:spPr>
          <a:xfrm>
            <a:off x="9464040" y="384048"/>
            <a:ext cx="292608" cy="237744"/>
          </a:xfrm>
          <a:prstGeom prst="rect">
            <a:avLst/>
          </a:prstGeom>
          <a:solidFill>
            <a:srgbClr val="1A1A2E"/>
          </a:solidFill>
          <a:ln/>
        </p:spPr>
      </p:sp>
      <p:sp>
        <p:nvSpPr>
          <p:cNvPr id="19" name="Shape 17"/>
          <p:cNvSpPr/>
          <p:nvPr/>
        </p:nvSpPr>
        <p:spPr>
          <a:xfrm>
            <a:off x="10085832" y="384048"/>
            <a:ext cx="292608" cy="237744"/>
          </a:xfrm>
          <a:prstGeom prst="rect">
            <a:avLst/>
          </a:prstGeom>
          <a:solidFill>
            <a:srgbClr val="1A1A2E"/>
          </a:solidFill>
          <a:ln/>
        </p:spPr>
      </p:sp>
      <p:sp>
        <p:nvSpPr>
          <p:cNvPr id="20" name="Shape 18"/>
          <p:cNvSpPr/>
          <p:nvPr/>
        </p:nvSpPr>
        <p:spPr>
          <a:xfrm>
            <a:off x="10707624" y="384048"/>
            <a:ext cx="292608" cy="237744"/>
          </a:xfrm>
          <a:prstGeom prst="rect">
            <a:avLst/>
          </a:prstGeom>
          <a:solidFill>
            <a:srgbClr val="1A1A2E"/>
          </a:solidFill>
          <a:ln/>
        </p:spPr>
      </p:sp>
      <p:sp>
        <p:nvSpPr>
          <p:cNvPr id="21" name="Shape 19"/>
          <p:cNvSpPr/>
          <p:nvPr/>
        </p:nvSpPr>
        <p:spPr>
          <a:xfrm>
            <a:off x="11329416" y="384048"/>
            <a:ext cx="292608" cy="237744"/>
          </a:xfrm>
          <a:prstGeom prst="rect">
            <a:avLst/>
          </a:prstGeom>
          <a:solidFill>
            <a:srgbClr val="1A1A2E"/>
          </a:solidFill>
          <a:ln/>
        </p:spPr>
      </p:sp>
      <p:sp>
        <p:nvSpPr>
          <p:cNvPr id="22" name="Shape 20"/>
          <p:cNvSpPr/>
          <p:nvPr/>
        </p:nvSpPr>
        <p:spPr>
          <a:xfrm>
            <a:off x="11951208" y="384048"/>
            <a:ext cx="292608" cy="237744"/>
          </a:xfrm>
          <a:prstGeom prst="rect">
            <a:avLst/>
          </a:prstGeom>
          <a:solidFill>
            <a:srgbClr val="1A1A2E"/>
          </a:solidFill>
          <a:ln/>
        </p:spPr>
      </p:sp>
      <p:sp>
        <p:nvSpPr>
          <p:cNvPr id="23" name="Shape 21"/>
          <p:cNvSpPr/>
          <p:nvPr/>
        </p:nvSpPr>
        <p:spPr>
          <a:xfrm>
            <a:off x="0" y="6263640"/>
            <a:ext cx="12188952" cy="365760"/>
          </a:xfrm>
          <a:prstGeom prst="rect">
            <a:avLst/>
          </a:prstGeom>
          <a:solidFill>
            <a:srgbClr val="990011"/>
          </a:solidFill>
          <a:ln/>
        </p:spPr>
      </p:sp>
      <p:sp>
        <p:nvSpPr>
          <p:cNvPr id="24" name="Shape 22"/>
          <p:cNvSpPr/>
          <p:nvPr/>
        </p:nvSpPr>
        <p:spPr>
          <a:xfrm>
            <a:off x="137160" y="6327648"/>
            <a:ext cx="292608" cy="237744"/>
          </a:xfrm>
          <a:prstGeom prst="rect">
            <a:avLst/>
          </a:prstGeom>
          <a:solidFill>
            <a:srgbClr val="1A1A2E"/>
          </a:solidFill>
          <a:ln/>
        </p:spPr>
      </p:sp>
      <p:sp>
        <p:nvSpPr>
          <p:cNvPr id="25" name="Shape 23"/>
          <p:cNvSpPr/>
          <p:nvPr/>
        </p:nvSpPr>
        <p:spPr>
          <a:xfrm>
            <a:off x="758952" y="6327648"/>
            <a:ext cx="292608" cy="237744"/>
          </a:xfrm>
          <a:prstGeom prst="rect">
            <a:avLst/>
          </a:prstGeom>
          <a:solidFill>
            <a:srgbClr val="1A1A2E"/>
          </a:solidFill>
          <a:ln/>
        </p:spPr>
      </p:sp>
      <p:sp>
        <p:nvSpPr>
          <p:cNvPr id="26" name="Shape 24"/>
          <p:cNvSpPr/>
          <p:nvPr/>
        </p:nvSpPr>
        <p:spPr>
          <a:xfrm>
            <a:off x="1380744" y="6327648"/>
            <a:ext cx="292608" cy="237744"/>
          </a:xfrm>
          <a:prstGeom prst="rect">
            <a:avLst/>
          </a:prstGeom>
          <a:solidFill>
            <a:srgbClr val="1A1A2E"/>
          </a:solidFill>
          <a:ln/>
        </p:spPr>
      </p:sp>
      <p:sp>
        <p:nvSpPr>
          <p:cNvPr id="27" name="Shape 25"/>
          <p:cNvSpPr/>
          <p:nvPr/>
        </p:nvSpPr>
        <p:spPr>
          <a:xfrm>
            <a:off x="2002536" y="6327648"/>
            <a:ext cx="292608" cy="237744"/>
          </a:xfrm>
          <a:prstGeom prst="rect">
            <a:avLst/>
          </a:prstGeom>
          <a:solidFill>
            <a:srgbClr val="1A1A2E"/>
          </a:solidFill>
          <a:ln/>
        </p:spPr>
      </p:sp>
      <p:sp>
        <p:nvSpPr>
          <p:cNvPr id="28" name="Shape 26"/>
          <p:cNvSpPr/>
          <p:nvPr/>
        </p:nvSpPr>
        <p:spPr>
          <a:xfrm>
            <a:off x="2624328" y="6327648"/>
            <a:ext cx="292608" cy="237744"/>
          </a:xfrm>
          <a:prstGeom prst="rect">
            <a:avLst/>
          </a:prstGeom>
          <a:solidFill>
            <a:srgbClr val="1A1A2E"/>
          </a:solidFill>
          <a:ln/>
        </p:spPr>
      </p:sp>
      <p:sp>
        <p:nvSpPr>
          <p:cNvPr id="29" name="Shape 27"/>
          <p:cNvSpPr/>
          <p:nvPr/>
        </p:nvSpPr>
        <p:spPr>
          <a:xfrm>
            <a:off x="3246120" y="6327648"/>
            <a:ext cx="292608" cy="237744"/>
          </a:xfrm>
          <a:prstGeom prst="rect">
            <a:avLst/>
          </a:prstGeom>
          <a:solidFill>
            <a:srgbClr val="1A1A2E"/>
          </a:solidFill>
          <a:ln/>
        </p:spPr>
      </p:sp>
      <p:sp>
        <p:nvSpPr>
          <p:cNvPr id="30" name="Shape 28"/>
          <p:cNvSpPr/>
          <p:nvPr/>
        </p:nvSpPr>
        <p:spPr>
          <a:xfrm>
            <a:off x="3867912" y="6327648"/>
            <a:ext cx="292608" cy="237744"/>
          </a:xfrm>
          <a:prstGeom prst="rect">
            <a:avLst/>
          </a:prstGeom>
          <a:solidFill>
            <a:srgbClr val="1A1A2E"/>
          </a:solidFill>
          <a:ln/>
        </p:spPr>
      </p:sp>
      <p:sp>
        <p:nvSpPr>
          <p:cNvPr id="31" name="Shape 29"/>
          <p:cNvSpPr/>
          <p:nvPr/>
        </p:nvSpPr>
        <p:spPr>
          <a:xfrm>
            <a:off x="4489704" y="6327648"/>
            <a:ext cx="292608" cy="237744"/>
          </a:xfrm>
          <a:prstGeom prst="rect">
            <a:avLst/>
          </a:prstGeom>
          <a:solidFill>
            <a:srgbClr val="1A1A2E"/>
          </a:solidFill>
          <a:ln/>
        </p:spPr>
      </p:sp>
      <p:sp>
        <p:nvSpPr>
          <p:cNvPr id="32" name="Shape 30"/>
          <p:cNvSpPr/>
          <p:nvPr/>
        </p:nvSpPr>
        <p:spPr>
          <a:xfrm>
            <a:off x="5111496" y="6327648"/>
            <a:ext cx="292608" cy="237744"/>
          </a:xfrm>
          <a:prstGeom prst="rect">
            <a:avLst/>
          </a:prstGeom>
          <a:solidFill>
            <a:srgbClr val="1A1A2E"/>
          </a:solidFill>
          <a:ln/>
        </p:spPr>
      </p:sp>
      <p:sp>
        <p:nvSpPr>
          <p:cNvPr id="33" name="Shape 31"/>
          <p:cNvSpPr/>
          <p:nvPr/>
        </p:nvSpPr>
        <p:spPr>
          <a:xfrm>
            <a:off x="5733288" y="6327648"/>
            <a:ext cx="292608" cy="237744"/>
          </a:xfrm>
          <a:prstGeom prst="rect">
            <a:avLst/>
          </a:prstGeom>
          <a:solidFill>
            <a:srgbClr val="1A1A2E"/>
          </a:solidFill>
          <a:ln/>
        </p:spPr>
      </p:sp>
      <p:sp>
        <p:nvSpPr>
          <p:cNvPr id="34" name="Shape 32"/>
          <p:cNvSpPr/>
          <p:nvPr/>
        </p:nvSpPr>
        <p:spPr>
          <a:xfrm>
            <a:off x="6355080" y="6327648"/>
            <a:ext cx="292608" cy="237744"/>
          </a:xfrm>
          <a:prstGeom prst="rect">
            <a:avLst/>
          </a:prstGeom>
          <a:solidFill>
            <a:srgbClr val="1A1A2E"/>
          </a:solidFill>
          <a:ln/>
        </p:spPr>
      </p:sp>
      <p:sp>
        <p:nvSpPr>
          <p:cNvPr id="35" name="Shape 33"/>
          <p:cNvSpPr/>
          <p:nvPr/>
        </p:nvSpPr>
        <p:spPr>
          <a:xfrm>
            <a:off x="6976872" y="6327648"/>
            <a:ext cx="292608" cy="237744"/>
          </a:xfrm>
          <a:prstGeom prst="rect">
            <a:avLst/>
          </a:prstGeom>
          <a:solidFill>
            <a:srgbClr val="1A1A2E"/>
          </a:solidFill>
          <a:ln/>
        </p:spPr>
      </p:sp>
      <p:sp>
        <p:nvSpPr>
          <p:cNvPr id="36" name="Shape 34"/>
          <p:cNvSpPr/>
          <p:nvPr/>
        </p:nvSpPr>
        <p:spPr>
          <a:xfrm>
            <a:off x="7598664" y="6327648"/>
            <a:ext cx="292608" cy="237744"/>
          </a:xfrm>
          <a:prstGeom prst="rect">
            <a:avLst/>
          </a:prstGeom>
          <a:solidFill>
            <a:srgbClr val="1A1A2E"/>
          </a:solidFill>
          <a:ln/>
        </p:spPr>
      </p:sp>
      <p:sp>
        <p:nvSpPr>
          <p:cNvPr id="37" name="Shape 35"/>
          <p:cNvSpPr/>
          <p:nvPr/>
        </p:nvSpPr>
        <p:spPr>
          <a:xfrm>
            <a:off x="8220456" y="6327648"/>
            <a:ext cx="292608" cy="237744"/>
          </a:xfrm>
          <a:prstGeom prst="rect">
            <a:avLst/>
          </a:prstGeom>
          <a:solidFill>
            <a:srgbClr val="1A1A2E"/>
          </a:solidFill>
          <a:ln/>
        </p:spPr>
      </p:sp>
      <p:sp>
        <p:nvSpPr>
          <p:cNvPr id="38" name="Shape 36"/>
          <p:cNvSpPr/>
          <p:nvPr/>
        </p:nvSpPr>
        <p:spPr>
          <a:xfrm>
            <a:off x="8842248" y="6327648"/>
            <a:ext cx="292608" cy="237744"/>
          </a:xfrm>
          <a:prstGeom prst="rect">
            <a:avLst/>
          </a:prstGeom>
          <a:solidFill>
            <a:srgbClr val="1A1A2E"/>
          </a:solidFill>
          <a:ln/>
        </p:spPr>
      </p:sp>
      <p:sp>
        <p:nvSpPr>
          <p:cNvPr id="39" name="Shape 37"/>
          <p:cNvSpPr/>
          <p:nvPr/>
        </p:nvSpPr>
        <p:spPr>
          <a:xfrm>
            <a:off x="9464040" y="6327648"/>
            <a:ext cx="292608" cy="237744"/>
          </a:xfrm>
          <a:prstGeom prst="rect">
            <a:avLst/>
          </a:prstGeom>
          <a:solidFill>
            <a:srgbClr val="1A1A2E"/>
          </a:solidFill>
          <a:ln/>
        </p:spPr>
      </p:sp>
      <p:sp>
        <p:nvSpPr>
          <p:cNvPr id="40" name="Shape 38"/>
          <p:cNvSpPr/>
          <p:nvPr/>
        </p:nvSpPr>
        <p:spPr>
          <a:xfrm>
            <a:off x="10085832" y="6327648"/>
            <a:ext cx="292608" cy="237744"/>
          </a:xfrm>
          <a:prstGeom prst="rect">
            <a:avLst/>
          </a:prstGeom>
          <a:solidFill>
            <a:srgbClr val="1A1A2E"/>
          </a:solidFill>
          <a:ln/>
        </p:spPr>
      </p:sp>
      <p:sp>
        <p:nvSpPr>
          <p:cNvPr id="41" name="Shape 39"/>
          <p:cNvSpPr/>
          <p:nvPr/>
        </p:nvSpPr>
        <p:spPr>
          <a:xfrm>
            <a:off x="10707624" y="6327648"/>
            <a:ext cx="292608" cy="237744"/>
          </a:xfrm>
          <a:prstGeom prst="rect">
            <a:avLst/>
          </a:prstGeom>
          <a:solidFill>
            <a:srgbClr val="1A1A2E"/>
          </a:solidFill>
          <a:ln/>
        </p:spPr>
      </p:sp>
      <p:sp>
        <p:nvSpPr>
          <p:cNvPr id="42" name="Shape 40"/>
          <p:cNvSpPr/>
          <p:nvPr/>
        </p:nvSpPr>
        <p:spPr>
          <a:xfrm>
            <a:off x="11329416" y="6327648"/>
            <a:ext cx="292608" cy="237744"/>
          </a:xfrm>
          <a:prstGeom prst="rect">
            <a:avLst/>
          </a:prstGeom>
          <a:solidFill>
            <a:srgbClr val="1A1A2E"/>
          </a:solidFill>
          <a:ln/>
        </p:spPr>
      </p:sp>
      <p:sp>
        <p:nvSpPr>
          <p:cNvPr id="43" name="Shape 41"/>
          <p:cNvSpPr/>
          <p:nvPr/>
        </p:nvSpPr>
        <p:spPr>
          <a:xfrm>
            <a:off x="11951208" y="6327648"/>
            <a:ext cx="292608" cy="237744"/>
          </a:xfrm>
          <a:prstGeom prst="rect">
            <a:avLst/>
          </a:prstGeom>
          <a:solidFill>
            <a:srgbClr val="1A1A2E"/>
          </a:solidFill>
          <a:ln/>
        </p:spPr>
      </p:sp>
      <p:sp>
        <p:nvSpPr>
          <p:cNvPr id="44" name="Text 42"/>
          <p:cNvSpPr/>
          <p:nvPr/>
        </p:nvSpPr>
        <p:spPr>
          <a:xfrm>
            <a:off x="731520" y="1965960"/>
            <a:ext cx="10698480" cy="457200"/>
          </a:xfrm>
          <a:prstGeom prst="rect">
            <a:avLst/>
          </a:prstGeom>
          <a:noFill/>
          <a:ln/>
        </p:spPr>
        <p:txBody>
          <a:bodyPr wrap="square" lIns="0" tIns="0" rIns="0" bIns="0" rtlCol="0" anchor="ctr"/>
          <a:lstStyle/>
          <a:p>
            <a:pPr marL="0" indent="0">
              <a:buNone/>
            </a:pPr>
            <a:r>
              <a:rPr lang="en-US" sz="1600" kern="0" spc="300" dirty="0">
                <a:solidFill>
                  <a:srgbClr val="C9A0A6"/>
                </a:solidFill>
                <a:latin typeface="Calibri" pitchFamily="34" charset="0"/>
                <a:ea typeface="Calibri" pitchFamily="34" charset="-122"/>
                <a:cs typeface="Calibri" pitchFamily="34" charset="-120"/>
              </a:rPr>
              <a:t>DATA STRUCTURES - 3</a:t>
            </a:r>
            <a:endParaRPr lang="en-US" sz="1600" dirty="0"/>
          </a:p>
        </p:txBody>
      </p:sp>
      <p:sp>
        <p:nvSpPr>
          <p:cNvPr id="45" name="Text 43"/>
          <p:cNvSpPr/>
          <p:nvPr/>
        </p:nvSpPr>
        <p:spPr>
          <a:xfrm>
            <a:off x="731520" y="2423160"/>
            <a:ext cx="10698480" cy="1188720"/>
          </a:xfrm>
          <a:prstGeom prst="rect">
            <a:avLst/>
          </a:prstGeom>
          <a:noFill/>
          <a:ln/>
        </p:spPr>
        <p:txBody>
          <a:bodyPr wrap="square" lIns="0" tIns="0" rIns="0" bIns="0" rtlCol="0" anchor="ctr"/>
          <a:lstStyle/>
          <a:p>
            <a:pPr marL="0" indent="0">
              <a:buNone/>
            </a:pPr>
            <a:r>
              <a:rPr lang="en-US" sz="6000" b="1" dirty="0">
                <a:solidFill>
                  <a:srgbClr val="FFFFFF"/>
                </a:solidFill>
                <a:latin typeface="Bookman Old Style" pitchFamily="34" charset="0"/>
                <a:ea typeface="Bookman Old Style" pitchFamily="34" charset="-122"/>
                <a:cs typeface="Bookman Old Style" pitchFamily="34" charset="-120"/>
              </a:rPr>
              <a:t>Movie Flix</a:t>
            </a:r>
            <a:endParaRPr lang="en-US" sz="6000" dirty="0"/>
          </a:p>
        </p:txBody>
      </p:sp>
      <p:sp>
        <p:nvSpPr>
          <p:cNvPr id="46" name="Text 44"/>
          <p:cNvSpPr/>
          <p:nvPr/>
        </p:nvSpPr>
        <p:spPr>
          <a:xfrm>
            <a:off x="731520" y="3429000"/>
            <a:ext cx="8686800" cy="1005840"/>
          </a:xfrm>
          <a:prstGeom prst="rect">
            <a:avLst/>
          </a:prstGeom>
          <a:noFill/>
          <a:ln/>
        </p:spPr>
        <p:txBody>
          <a:bodyPr wrap="square" lIns="0" tIns="0" rIns="0" bIns="0" rtlCol="0" anchor="ctr"/>
          <a:lstStyle/>
          <a:p>
            <a:pPr marL="0" indent="0">
              <a:lnSpc>
                <a:spcPct val="125000"/>
              </a:lnSpc>
              <a:buNone/>
            </a:pPr>
            <a:r>
              <a:rPr lang="en-US" sz="1600" i="1" dirty="0">
                <a:solidFill>
                  <a:srgbClr val="D8D8E0"/>
                </a:solidFill>
                <a:latin typeface="Calibri" pitchFamily="34" charset="0"/>
                <a:ea typeface="Calibri" pitchFamily="34" charset="-122"/>
                <a:cs typeface="Calibri" pitchFamily="34" charset="-120"/>
              </a:rPr>
              <a:t>Streaming platforms contain thousands of movies. Users need an efficient system to search movies using titles, actors, genres, or keywords.</a:t>
            </a:r>
            <a:endParaRPr lang="en-US" sz="1600" dirty="0"/>
          </a:p>
        </p:txBody>
      </p:sp>
      <p:sp>
        <p:nvSpPr>
          <p:cNvPr id="47" name="TextBox 46">
            <a:extLst>
              <a:ext uri="{FF2B5EF4-FFF2-40B4-BE49-F238E27FC236}">
                <a16:creationId xmlns:a16="http://schemas.microsoft.com/office/drawing/2014/main" id="{1FD148EE-1F5C-467B-BF80-1A468324034D}"/>
              </a:ext>
            </a:extLst>
          </p:cNvPr>
          <p:cNvSpPr txBox="1"/>
          <p:nvPr/>
        </p:nvSpPr>
        <p:spPr>
          <a:xfrm>
            <a:off x="731520" y="4434840"/>
            <a:ext cx="8505786" cy="1200329"/>
          </a:xfrm>
          <a:prstGeom prst="rect">
            <a:avLst/>
          </a:prstGeom>
          <a:noFill/>
        </p:spPr>
        <p:txBody>
          <a:bodyPr wrap="square" rtlCol="0">
            <a:spAutoFit/>
          </a:bodyPr>
          <a:lstStyle/>
          <a:p>
            <a:r>
              <a:rPr lang="en-US" dirty="0">
                <a:solidFill>
                  <a:schemeClr val="bg1"/>
                </a:solidFill>
              </a:rPr>
              <a:t>Team No : 8</a:t>
            </a:r>
          </a:p>
          <a:p>
            <a:r>
              <a:rPr lang="en-US" dirty="0">
                <a:solidFill>
                  <a:schemeClr val="bg1"/>
                </a:solidFill>
              </a:rPr>
              <a:t>Varshith (2520030250)</a:t>
            </a:r>
          </a:p>
          <a:p>
            <a:r>
              <a:rPr lang="en-US" dirty="0">
                <a:solidFill>
                  <a:schemeClr val="bg1"/>
                </a:solidFill>
              </a:rPr>
              <a:t>Yeshwanth (2520030525)</a:t>
            </a:r>
          </a:p>
          <a:p>
            <a:r>
              <a:rPr lang="en-US" dirty="0">
                <a:solidFill>
                  <a:schemeClr val="bg1"/>
                </a:solidFill>
              </a:rPr>
              <a:t>Ritvik (2520030283)</a:t>
            </a:r>
            <a:endParaRPr lang="en-IN"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6F5"/>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F3C7E"/>
          </a:solidFill>
          <a:ln/>
        </p:spPr>
      </p:sp>
      <p:sp>
        <p:nvSpPr>
          <p:cNvPr id="3" name="Text 1"/>
          <p:cNvSpPr/>
          <p:nvPr/>
        </p:nvSpPr>
        <p:spPr>
          <a:xfrm>
            <a:off x="548640" y="0"/>
            <a:ext cx="9144000" cy="1051560"/>
          </a:xfrm>
          <a:prstGeom prst="rect">
            <a:avLst/>
          </a:prstGeom>
          <a:noFill/>
          <a:ln/>
        </p:spPr>
        <p:txBody>
          <a:bodyPr wrap="square" lIns="0" tIns="0" rIns="0" bIns="0" rtlCol="0" anchor="ctr"/>
          <a:lstStyle/>
          <a:p>
            <a:pPr marL="0" indent="0">
              <a:buNone/>
            </a:pPr>
            <a:r>
              <a:rPr lang="en-US" sz="3200" b="1" dirty="0">
                <a:solidFill>
                  <a:srgbClr val="FFFFFF"/>
                </a:solidFill>
                <a:latin typeface="Bookman Old Style" pitchFamily="34" charset="0"/>
                <a:ea typeface="Bookman Old Style" pitchFamily="34" charset="-122"/>
                <a:cs typeface="Bookman Old Style" pitchFamily="34" charset="-120"/>
              </a:rPr>
              <a:t>1. Abstract</a:t>
            </a:r>
            <a:endParaRPr lang="en-US" sz="3200" dirty="0"/>
          </a:p>
        </p:txBody>
      </p:sp>
      <p:sp>
        <p:nvSpPr>
          <p:cNvPr id="4" name="Text 2"/>
          <p:cNvSpPr/>
          <p:nvPr/>
        </p:nvSpPr>
        <p:spPr>
          <a:xfrm>
            <a:off x="640080" y="1417320"/>
            <a:ext cx="10881360" cy="4754880"/>
          </a:xfrm>
          <a:prstGeom prst="rect">
            <a:avLst/>
          </a:prstGeom>
          <a:noFill/>
          <a:ln/>
        </p:spPr>
        <p:txBody>
          <a:bodyPr wrap="square" lIns="0" tIns="0" rIns="0" bIns="0" rtlCol="0" anchor="t"/>
          <a:lstStyle/>
          <a:p>
            <a:pPr marL="0" indent="0">
              <a:lnSpc>
                <a:spcPct val="125000"/>
              </a:lnSpc>
              <a:buNone/>
            </a:pPr>
            <a:r>
              <a:rPr lang="en-US" b="1" dirty="0">
                <a:solidFill>
                  <a:srgbClr val="990011"/>
                </a:solidFill>
                <a:latin typeface="Calibri" pitchFamily="34" charset="0"/>
                <a:ea typeface="Calibri" pitchFamily="34" charset="-122"/>
                <a:cs typeface="Calibri" pitchFamily="34" charset="-120"/>
              </a:rPr>
              <a:t>MovieFlix</a:t>
            </a:r>
            <a:r>
              <a:rPr lang="en-US" dirty="0">
                <a:solidFill>
                  <a:srgbClr val="1A1A2E"/>
                </a:solidFill>
                <a:latin typeface="Calibri" pitchFamily="34" charset="0"/>
                <a:ea typeface="Calibri" pitchFamily="34" charset="-122"/>
                <a:cs typeface="Calibri" pitchFamily="34" charset="-120"/>
              </a:rPr>
              <a:t> is a movie search and discovery application designed to help users quickly find movies from a large collection using multiple search criteria. With the rapid growth of streaming platforms, locating relevant content has become challenging due to the vast number of available titles. MovieFlix addresses this problem by providing a simple and efficient interface that allows users to search movies by title, actor, genre, release year, or keywords.
</a:t>
            </a:r>
            <a:endParaRPr lang="en-US" dirty="0"/>
          </a:p>
          <a:p>
            <a:pPr marL="0" indent="0">
              <a:lnSpc>
                <a:spcPct val="125000"/>
              </a:lnSpc>
              <a:buNone/>
            </a:pPr>
            <a:r>
              <a:rPr lang="en-US" dirty="0">
                <a:solidFill>
                  <a:srgbClr val="1A1A2E"/>
                </a:solidFill>
                <a:latin typeface="Calibri" pitchFamily="34" charset="0"/>
                <a:ea typeface="Calibri" pitchFamily="34" charset="-122"/>
                <a:cs typeface="Calibri" pitchFamily="34" charset="-120"/>
              </a:rPr>
              <a:t>The system organizes movie information in a structured database and retrieves accurate results using optimized search techniques. It also displays essential details such as the movie synopsis, cast, genre, rating, and release date, enabling users to make informed viewing decisions. The project aims to improve the overall user experience by reducing search time and increasing the accuracy of search results.
</a:t>
            </a:r>
            <a:endParaRPr lang="en-US" dirty="0"/>
          </a:p>
          <a:p>
            <a:pPr marL="0" indent="0">
              <a:lnSpc>
                <a:spcPct val="125000"/>
              </a:lnSpc>
              <a:buNone/>
            </a:pPr>
            <a:r>
              <a:rPr lang="en-US" dirty="0">
                <a:solidFill>
                  <a:srgbClr val="1A1A2E"/>
                </a:solidFill>
                <a:latin typeface="Calibri" pitchFamily="34" charset="0"/>
                <a:ea typeface="Calibri" pitchFamily="34" charset="-122"/>
                <a:cs typeface="Calibri" pitchFamily="34" charset="-120"/>
              </a:rPr>
              <a:t>MovieFlix demonstrates the practical application of database management, search algorithms, and user-friendly interface design to create a fast, reliable, and scalable movie search solution.</a:t>
            </a:r>
            <a:endParaRPr lang="en-US" dirty="0"/>
          </a:p>
        </p:txBody>
      </p:sp>
      <p:sp>
        <p:nvSpPr>
          <p:cNvPr id="5" name="Text 3"/>
          <p:cNvSpPr/>
          <p:nvPr/>
        </p:nvSpPr>
        <p:spPr>
          <a:xfrm>
            <a:off x="457200" y="6537960"/>
            <a:ext cx="3657600" cy="274320"/>
          </a:xfrm>
          <a:prstGeom prst="rect">
            <a:avLst/>
          </a:prstGeom>
          <a:noFill/>
          <a:ln/>
        </p:spPr>
        <p:txBody>
          <a:bodyPr wrap="square" lIns="0" tIns="0" rIns="0" bIns="0" rtlCol="0" anchor="ctr"/>
          <a:lstStyle/>
          <a:p>
            <a:pPr marL="0" indent="0">
              <a:buNone/>
            </a:pPr>
            <a:r>
              <a:rPr lang="en-US" sz="1000" dirty="0">
                <a:solidFill>
                  <a:srgbClr val="9A9A9A"/>
                </a:solidFill>
                <a:latin typeface="Calibri" pitchFamily="34" charset="0"/>
                <a:ea typeface="Calibri" pitchFamily="34" charset="-122"/>
                <a:cs typeface="Calibri" pitchFamily="34" charset="-120"/>
              </a:rPr>
              <a:t>Data Structures - 3</a:t>
            </a:r>
            <a:endParaRPr lang="en-US" sz="1000" dirty="0"/>
          </a:p>
        </p:txBody>
      </p:sp>
      <p:sp>
        <p:nvSpPr>
          <p:cNvPr id="6" name="Text 4"/>
          <p:cNvSpPr/>
          <p:nvPr/>
        </p:nvSpPr>
        <p:spPr>
          <a:xfrm>
            <a:off x="11247120" y="6537960"/>
            <a:ext cx="457200" cy="274320"/>
          </a:xfrm>
          <a:prstGeom prst="rect">
            <a:avLst/>
          </a:prstGeom>
          <a:noFill/>
          <a:ln/>
        </p:spPr>
        <p:txBody>
          <a:bodyPr wrap="square" lIns="0" tIns="0" rIns="0" bIns="0" rtlCol="0" anchor="ctr"/>
          <a:lstStyle/>
          <a:p>
            <a:pPr marL="0" indent="0" algn="r">
              <a:buNone/>
            </a:pPr>
            <a:r>
              <a:rPr lang="en-US" sz="1000" dirty="0">
                <a:solidFill>
                  <a:srgbClr val="9A9A9A"/>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F3C7E"/>
          </a:solidFill>
          <a:ln/>
        </p:spPr>
      </p:sp>
      <p:sp>
        <p:nvSpPr>
          <p:cNvPr id="3" name="Text 1"/>
          <p:cNvSpPr/>
          <p:nvPr/>
        </p:nvSpPr>
        <p:spPr>
          <a:xfrm>
            <a:off x="548640" y="0"/>
            <a:ext cx="10058400" cy="1051560"/>
          </a:xfrm>
          <a:prstGeom prst="rect">
            <a:avLst/>
          </a:prstGeom>
          <a:noFill/>
          <a:ln/>
        </p:spPr>
        <p:txBody>
          <a:bodyPr wrap="square" lIns="0" tIns="0" rIns="0" bIns="0" rtlCol="0" anchor="ctr"/>
          <a:lstStyle/>
          <a:p>
            <a:pPr marL="0" indent="0">
              <a:buNone/>
            </a:pPr>
            <a:r>
              <a:rPr lang="en-US" sz="3600" b="1" dirty="0">
                <a:solidFill>
                  <a:srgbClr val="FFFFFF"/>
                </a:solidFill>
                <a:latin typeface="Bookman Old Style" pitchFamily="34" charset="0"/>
                <a:ea typeface="Bookman Old Style" pitchFamily="34" charset="-122"/>
                <a:cs typeface="Bookman Old Style" pitchFamily="34" charset="-120"/>
              </a:rPr>
              <a:t>2. Problem Statement</a:t>
            </a:r>
            <a:endParaRPr lang="en-US" sz="3600" dirty="0"/>
          </a:p>
        </p:txBody>
      </p:sp>
      <p:sp>
        <p:nvSpPr>
          <p:cNvPr id="4" name="Shape 2"/>
          <p:cNvSpPr/>
          <p:nvPr/>
        </p:nvSpPr>
        <p:spPr>
          <a:xfrm>
            <a:off x="548640" y="1417320"/>
            <a:ext cx="5394960" cy="4663440"/>
          </a:xfrm>
          <a:prstGeom prst="roundRect">
            <a:avLst>
              <a:gd name="adj" fmla="val 2353"/>
            </a:avLst>
          </a:prstGeom>
          <a:solidFill>
            <a:srgbClr val="FCF6F5"/>
          </a:solidFill>
          <a:ln/>
          <a:effectLst>
            <a:outerShdw blurRad="76200" dist="25400" dir="5400000" algn="bl" rotWithShape="0">
              <a:srgbClr val="888888">
                <a:alpha val="25000"/>
              </a:srgbClr>
            </a:outerShdw>
          </a:effectLst>
        </p:spPr>
      </p:sp>
      <p:sp>
        <p:nvSpPr>
          <p:cNvPr id="5" name="Text 3"/>
          <p:cNvSpPr/>
          <p:nvPr/>
        </p:nvSpPr>
        <p:spPr>
          <a:xfrm>
            <a:off x="822960" y="1645920"/>
            <a:ext cx="4846320" cy="4206240"/>
          </a:xfrm>
          <a:prstGeom prst="rect">
            <a:avLst/>
          </a:prstGeom>
          <a:noFill/>
          <a:ln/>
        </p:spPr>
        <p:txBody>
          <a:bodyPr wrap="square" lIns="0" tIns="0" rIns="0" bIns="0" rtlCol="0" anchor="t"/>
          <a:lstStyle/>
          <a:p>
            <a:pPr marL="0" indent="0">
              <a:lnSpc>
                <a:spcPct val="128000"/>
              </a:lnSpc>
              <a:buNone/>
            </a:pPr>
            <a:r>
              <a:rPr lang="en-US" sz="1600" dirty="0">
                <a:solidFill>
                  <a:srgbClr val="1A1A2E"/>
                </a:solidFill>
                <a:latin typeface="Calibri" pitchFamily="34" charset="0"/>
                <a:ea typeface="Calibri" pitchFamily="34" charset="-122"/>
                <a:cs typeface="Calibri" pitchFamily="34" charset="-120"/>
              </a:rPr>
              <a:t>The increasing number of movies available across streaming platforms has made it difficult for users to quickly find content that matches their interests. Most platforms contain extensive libraries with thousands of titles, making manual browsing time-consuming and inefficient. Users often struggle to search for movies based on specific criteria such as title, actor, genre, release year, or keywords. In many cases, search results are either too broad or lack relevant filtering options, leading to a poor user experience.</a:t>
            </a:r>
            <a:endParaRPr lang="en-US" sz="1600" dirty="0"/>
          </a:p>
        </p:txBody>
      </p:sp>
      <p:sp>
        <p:nvSpPr>
          <p:cNvPr id="6" name="Shape 4"/>
          <p:cNvSpPr/>
          <p:nvPr/>
        </p:nvSpPr>
        <p:spPr>
          <a:xfrm>
            <a:off x="6217920" y="1417320"/>
            <a:ext cx="5394960" cy="4663440"/>
          </a:xfrm>
          <a:prstGeom prst="roundRect">
            <a:avLst>
              <a:gd name="adj" fmla="val 2353"/>
            </a:avLst>
          </a:prstGeom>
          <a:solidFill>
            <a:srgbClr val="2F3C7E"/>
          </a:solidFill>
          <a:ln/>
          <a:effectLst>
            <a:outerShdw blurRad="76200" dist="25400" dir="5400000" algn="bl" rotWithShape="0">
              <a:srgbClr val="888888">
                <a:alpha val="25000"/>
              </a:srgbClr>
            </a:outerShdw>
          </a:effectLst>
        </p:spPr>
      </p:sp>
      <p:sp>
        <p:nvSpPr>
          <p:cNvPr id="7" name="Text 5"/>
          <p:cNvSpPr/>
          <p:nvPr/>
        </p:nvSpPr>
        <p:spPr>
          <a:xfrm>
            <a:off x="6492240" y="1645920"/>
            <a:ext cx="4846320" cy="4206240"/>
          </a:xfrm>
          <a:prstGeom prst="rect">
            <a:avLst/>
          </a:prstGeom>
          <a:noFill/>
          <a:ln/>
        </p:spPr>
        <p:txBody>
          <a:bodyPr wrap="square" lIns="0" tIns="0" rIns="0" bIns="0" rtlCol="0" anchor="t"/>
          <a:lstStyle/>
          <a:p>
            <a:pPr marL="0" indent="0">
              <a:lnSpc>
                <a:spcPct val="128000"/>
              </a:lnSpc>
              <a:buNone/>
            </a:pPr>
            <a:r>
              <a:rPr lang="en-US" sz="1600" dirty="0">
                <a:solidFill>
                  <a:srgbClr val="FFFFFF"/>
                </a:solidFill>
                <a:latin typeface="Calibri" pitchFamily="34" charset="0"/>
                <a:ea typeface="Calibri" pitchFamily="34" charset="-122"/>
                <a:cs typeface="Calibri" pitchFamily="34" charset="-120"/>
              </a:rPr>
              <a:t>MovieFlix aims to solve this problem by providing a centralized and efficient movie search system that enables users to locate movies using multiple search parameters. The application stores movie information in a structured database and retrieves accurate results through optimized search techniques. By offering fast search, organized movie details, and an intuitive interface, MovieFlix reduces the time required to discover movies and enhances the overall content exploration experience.</a:t>
            </a:r>
            <a:endParaRPr lang="en-US" sz="1600" dirty="0"/>
          </a:p>
        </p:txBody>
      </p:sp>
      <p:sp>
        <p:nvSpPr>
          <p:cNvPr id="8" name="Text 6"/>
          <p:cNvSpPr/>
          <p:nvPr/>
        </p:nvSpPr>
        <p:spPr>
          <a:xfrm>
            <a:off x="457200" y="6537960"/>
            <a:ext cx="3657600" cy="274320"/>
          </a:xfrm>
          <a:prstGeom prst="rect">
            <a:avLst/>
          </a:prstGeom>
          <a:noFill/>
          <a:ln/>
        </p:spPr>
        <p:txBody>
          <a:bodyPr wrap="square" lIns="0" tIns="0" rIns="0" bIns="0" rtlCol="0" anchor="ctr"/>
          <a:lstStyle/>
          <a:p>
            <a:pPr marL="0" indent="0">
              <a:buNone/>
            </a:pPr>
            <a:r>
              <a:rPr lang="en-US" sz="1050" dirty="0">
                <a:solidFill>
                  <a:srgbClr val="9A9A9A"/>
                </a:solidFill>
                <a:latin typeface="Calibri" pitchFamily="34" charset="0"/>
                <a:ea typeface="Calibri" pitchFamily="34" charset="-122"/>
                <a:cs typeface="Calibri" pitchFamily="34" charset="-120"/>
              </a:rPr>
              <a:t>Data Structures - 3</a:t>
            </a:r>
            <a:endParaRPr lang="en-US" sz="1050" dirty="0"/>
          </a:p>
        </p:txBody>
      </p:sp>
      <p:sp>
        <p:nvSpPr>
          <p:cNvPr id="9" name="Text 7"/>
          <p:cNvSpPr/>
          <p:nvPr/>
        </p:nvSpPr>
        <p:spPr>
          <a:xfrm>
            <a:off x="11247120" y="6537960"/>
            <a:ext cx="457200" cy="274320"/>
          </a:xfrm>
          <a:prstGeom prst="rect">
            <a:avLst/>
          </a:prstGeom>
          <a:noFill/>
          <a:ln/>
        </p:spPr>
        <p:txBody>
          <a:bodyPr wrap="square" lIns="0" tIns="0" rIns="0" bIns="0" rtlCol="0" anchor="ctr"/>
          <a:lstStyle/>
          <a:p>
            <a:pPr marL="0" indent="0" algn="r">
              <a:buNone/>
            </a:pPr>
            <a:r>
              <a:rPr lang="en-US" sz="1050" dirty="0">
                <a:solidFill>
                  <a:srgbClr val="9A9A9A"/>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F3C7E"/>
          </a:solidFill>
          <a:ln/>
        </p:spPr>
      </p:sp>
      <p:sp>
        <p:nvSpPr>
          <p:cNvPr id="3" name="Text 1"/>
          <p:cNvSpPr/>
          <p:nvPr/>
        </p:nvSpPr>
        <p:spPr>
          <a:xfrm>
            <a:off x="548640" y="0"/>
            <a:ext cx="10058400" cy="1051560"/>
          </a:xfrm>
          <a:prstGeom prst="rect">
            <a:avLst/>
          </a:prstGeom>
          <a:noFill/>
          <a:ln/>
        </p:spPr>
        <p:txBody>
          <a:bodyPr wrap="square" lIns="0" tIns="0" rIns="0" bIns="0" rtlCol="0" anchor="ctr"/>
          <a:lstStyle/>
          <a:p>
            <a:pPr marL="0" indent="0">
              <a:buNone/>
            </a:pPr>
            <a:r>
              <a:rPr lang="en-US" sz="3200" b="1" dirty="0">
                <a:solidFill>
                  <a:srgbClr val="FFFFFF"/>
                </a:solidFill>
                <a:latin typeface="Bookman Old Style" pitchFamily="34" charset="0"/>
                <a:ea typeface="Bookman Old Style" pitchFamily="34" charset="-122"/>
                <a:cs typeface="Bookman Old Style" pitchFamily="34" charset="-120"/>
              </a:rPr>
              <a:t>3. Proposed Functionalities</a:t>
            </a:r>
            <a:endParaRPr lang="en-US" sz="3200" dirty="0"/>
          </a:p>
        </p:txBody>
      </p:sp>
      <p:sp>
        <p:nvSpPr>
          <p:cNvPr id="4" name="Text 2"/>
          <p:cNvSpPr/>
          <p:nvPr/>
        </p:nvSpPr>
        <p:spPr>
          <a:xfrm>
            <a:off x="548640" y="1097280"/>
            <a:ext cx="11064240" cy="502920"/>
          </a:xfrm>
          <a:prstGeom prst="rect">
            <a:avLst/>
          </a:prstGeom>
          <a:noFill/>
          <a:ln/>
        </p:spPr>
        <p:txBody>
          <a:bodyPr wrap="square" lIns="0" tIns="0" rIns="0" bIns="0" rtlCol="0" anchor="ctr"/>
          <a:lstStyle/>
          <a:p>
            <a:pPr marL="0" indent="0">
              <a:buNone/>
            </a:pPr>
            <a:r>
              <a:rPr lang="en-US" sz="1250" i="1" dirty="0">
                <a:solidFill>
                  <a:srgbClr val="4A4A4A"/>
                </a:solidFill>
                <a:latin typeface="Calibri" pitchFamily="34" charset="0"/>
                <a:ea typeface="Calibri" pitchFamily="34" charset="-122"/>
                <a:cs typeface="Calibri" pitchFamily="34" charset="-120"/>
              </a:rPr>
              <a:t>The proposed functionalities of MovieFlix focus on applying Data Structures and Algorithms to provide fast and efficient movie searching and retrieval from a large dataset.</a:t>
            </a:r>
            <a:endParaRPr lang="en-US" sz="1250" dirty="0"/>
          </a:p>
        </p:txBody>
      </p:sp>
      <p:sp>
        <p:nvSpPr>
          <p:cNvPr id="5" name="Shape 3"/>
          <p:cNvSpPr/>
          <p:nvPr/>
        </p:nvSpPr>
        <p:spPr>
          <a:xfrm>
            <a:off x="548640" y="1783080"/>
            <a:ext cx="5440680" cy="841248"/>
          </a:xfrm>
          <a:prstGeom prst="roundRect">
            <a:avLst>
              <a:gd name="adj" fmla="val 6522"/>
            </a:avLst>
          </a:prstGeom>
          <a:solidFill>
            <a:srgbClr val="FCF6F5"/>
          </a:solidFill>
          <a:ln/>
        </p:spPr>
      </p:sp>
      <p:sp>
        <p:nvSpPr>
          <p:cNvPr id="6" name="Shape 4"/>
          <p:cNvSpPr/>
          <p:nvPr/>
        </p:nvSpPr>
        <p:spPr>
          <a:xfrm>
            <a:off x="685800" y="1901952"/>
            <a:ext cx="310896" cy="310896"/>
          </a:xfrm>
          <a:prstGeom prst="ellipse">
            <a:avLst/>
          </a:prstGeom>
          <a:solidFill>
            <a:srgbClr val="990011"/>
          </a:solidFill>
          <a:ln/>
        </p:spPr>
      </p:sp>
      <p:sp>
        <p:nvSpPr>
          <p:cNvPr id="7" name="Text 5"/>
          <p:cNvSpPr/>
          <p:nvPr/>
        </p:nvSpPr>
        <p:spPr>
          <a:xfrm>
            <a:off x="685800" y="190195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097280" y="1810512"/>
            <a:ext cx="4754880" cy="786384"/>
          </a:xfrm>
          <a:prstGeom prst="rect">
            <a:avLst/>
          </a:prstGeom>
          <a:noFill/>
          <a:ln/>
        </p:spPr>
        <p:txBody>
          <a:bodyPr wrap="square" lIns="0" tIns="0" rIns="0" bIns="0" rtlCol="0" anchor="t"/>
          <a:lstStyle/>
          <a:p>
            <a:pPr marL="0" indent="0">
              <a:lnSpc>
                <a:spcPct val="105000"/>
              </a:lnSpc>
              <a:buNone/>
            </a:pPr>
            <a:r>
              <a:rPr lang="en-US" sz="1200" b="1" dirty="0">
                <a:solidFill>
                  <a:srgbClr val="2F3C7E"/>
                </a:solidFill>
                <a:latin typeface="Calibri" pitchFamily="34" charset="0"/>
                <a:ea typeface="Calibri" pitchFamily="34" charset="-122"/>
                <a:cs typeface="Calibri" pitchFamily="34" charset="-120"/>
              </a:rPr>
              <a:t>Movie Search
</a:t>
            </a:r>
            <a:endParaRPr lang="en-US" sz="1200" dirty="0"/>
          </a:p>
          <a:p>
            <a:pPr marL="0" indent="0">
              <a:lnSpc>
                <a:spcPct val="105000"/>
              </a:lnSpc>
              <a:buNone/>
            </a:pPr>
            <a:r>
              <a:rPr lang="en-US" sz="950" dirty="0">
                <a:solidFill>
                  <a:srgbClr val="4A4A4A"/>
                </a:solidFill>
                <a:latin typeface="Calibri" pitchFamily="34" charset="0"/>
                <a:ea typeface="Calibri" pitchFamily="34" charset="-122"/>
                <a:cs typeface="Calibri" pitchFamily="34" charset="-120"/>
              </a:rPr>
              <a:t>Search movies by title, actor, genre, director, or keywords using efficient searching algorithms.</a:t>
            </a:r>
            <a:endParaRPr lang="en-US" sz="1200" dirty="0"/>
          </a:p>
        </p:txBody>
      </p:sp>
      <p:sp>
        <p:nvSpPr>
          <p:cNvPr id="9" name="Shape 7"/>
          <p:cNvSpPr/>
          <p:nvPr/>
        </p:nvSpPr>
        <p:spPr>
          <a:xfrm>
            <a:off x="548640" y="2715768"/>
            <a:ext cx="5440680" cy="841248"/>
          </a:xfrm>
          <a:prstGeom prst="roundRect">
            <a:avLst>
              <a:gd name="adj" fmla="val 6522"/>
            </a:avLst>
          </a:prstGeom>
          <a:solidFill>
            <a:srgbClr val="FCF6F5"/>
          </a:solidFill>
          <a:ln/>
        </p:spPr>
      </p:sp>
      <p:sp>
        <p:nvSpPr>
          <p:cNvPr id="10" name="Shape 8"/>
          <p:cNvSpPr/>
          <p:nvPr/>
        </p:nvSpPr>
        <p:spPr>
          <a:xfrm>
            <a:off x="685800" y="2834640"/>
            <a:ext cx="310896" cy="310896"/>
          </a:xfrm>
          <a:prstGeom prst="ellipse">
            <a:avLst/>
          </a:prstGeom>
          <a:solidFill>
            <a:srgbClr val="990011"/>
          </a:solidFill>
          <a:ln/>
        </p:spPr>
      </p:sp>
      <p:sp>
        <p:nvSpPr>
          <p:cNvPr id="11" name="Text 9"/>
          <p:cNvSpPr/>
          <p:nvPr/>
        </p:nvSpPr>
        <p:spPr>
          <a:xfrm>
            <a:off x="685800" y="283464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097280" y="2743200"/>
            <a:ext cx="4754880" cy="786384"/>
          </a:xfrm>
          <a:prstGeom prst="rect">
            <a:avLst/>
          </a:prstGeom>
          <a:noFill/>
          <a:ln/>
        </p:spPr>
        <p:txBody>
          <a:bodyPr wrap="square" lIns="0" tIns="0" rIns="0" bIns="0" rtlCol="0" anchor="t"/>
          <a:lstStyle/>
          <a:p>
            <a:pPr marL="0" indent="0">
              <a:lnSpc>
                <a:spcPct val="105000"/>
              </a:lnSpc>
              <a:buNone/>
            </a:pPr>
            <a:r>
              <a:rPr lang="en-US" sz="1200" b="1" dirty="0">
                <a:solidFill>
                  <a:srgbClr val="2F3C7E"/>
                </a:solidFill>
                <a:latin typeface="Calibri" pitchFamily="34" charset="0"/>
                <a:ea typeface="Calibri" pitchFamily="34" charset="-122"/>
                <a:cs typeface="Calibri" pitchFamily="34" charset="-120"/>
              </a:rPr>
              <a:t>Keyword-Based Search
</a:t>
            </a:r>
            <a:endParaRPr lang="en-US" sz="1200" dirty="0"/>
          </a:p>
          <a:p>
            <a:pPr marL="0" indent="0">
              <a:lnSpc>
                <a:spcPct val="105000"/>
              </a:lnSpc>
              <a:buNone/>
            </a:pPr>
            <a:r>
              <a:rPr lang="en-US" sz="950" dirty="0">
                <a:solidFill>
                  <a:srgbClr val="4A4A4A"/>
                </a:solidFill>
                <a:latin typeface="Calibri" pitchFamily="34" charset="0"/>
                <a:ea typeface="Calibri" pitchFamily="34" charset="-122"/>
                <a:cs typeface="Calibri" pitchFamily="34" charset="-120"/>
              </a:rPr>
              <a:t>Allow users to search for movies using partial names or related keywords for faster discovery.</a:t>
            </a:r>
            <a:endParaRPr lang="en-US" sz="1200" dirty="0"/>
          </a:p>
        </p:txBody>
      </p:sp>
      <p:sp>
        <p:nvSpPr>
          <p:cNvPr id="13" name="Shape 11"/>
          <p:cNvSpPr/>
          <p:nvPr/>
        </p:nvSpPr>
        <p:spPr>
          <a:xfrm>
            <a:off x="548640" y="3648456"/>
            <a:ext cx="5440680" cy="841248"/>
          </a:xfrm>
          <a:prstGeom prst="roundRect">
            <a:avLst>
              <a:gd name="adj" fmla="val 6522"/>
            </a:avLst>
          </a:prstGeom>
          <a:solidFill>
            <a:srgbClr val="FCF6F5"/>
          </a:solidFill>
          <a:ln/>
        </p:spPr>
      </p:sp>
      <p:sp>
        <p:nvSpPr>
          <p:cNvPr id="14" name="Shape 12"/>
          <p:cNvSpPr/>
          <p:nvPr/>
        </p:nvSpPr>
        <p:spPr>
          <a:xfrm>
            <a:off x="685800" y="3767328"/>
            <a:ext cx="310896" cy="310896"/>
          </a:xfrm>
          <a:prstGeom prst="ellipse">
            <a:avLst/>
          </a:prstGeom>
          <a:solidFill>
            <a:srgbClr val="990011"/>
          </a:solidFill>
          <a:ln/>
        </p:spPr>
      </p:sp>
      <p:sp>
        <p:nvSpPr>
          <p:cNvPr id="15" name="Text 13"/>
          <p:cNvSpPr/>
          <p:nvPr/>
        </p:nvSpPr>
        <p:spPr>
          <a:xfrm>
            <a:off x="685800" y="376732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097280" y="3675888"/>
            <a:ext cx="4754880" cy="786384"/>
          </a:xfrm>
          <a:prstGeom prst="rect">
            <a:avLst/>
          </a:prstGeom>
          <a:noFill/>
          <a:ln/>
        </p:spPr>
        <p:txBody>
          <a:bodyPr wrap="square" lIns="0" tIns="0" rIns="0" bIns="0" rtlCol="0" anchor="t"/>
          <a:lstStyle/>
          <a:p>
            <a:pPr marL="0" indent="0">
              <a:lnSpc>
                <a:spcPct val="105000"/>
              </a:lnSpc>
              <a:buNone/>
            </a:pPr>
            <a:r>
              <a:rPr lang="en-US" sz="1200" b="1" dirty="0">
                <a:solidFill>
                  <a:srgbClr val="2F3C7E"/>
                </a:solidFill>
                <a:latin typeface="Calibri" pitchFamily="34" charset="0"/>
                <a:ea typeface="Calibri" pitchFamily="34" charset="-122"/>
                <a:cs typeface="Calibri" pitchFamily="34" charset="-120"/>
              </a:rPr>
              <a:t>Efficient Data Storage
</a:t>
            </a:r>
            <a:endParaRPr lang="en-US" sz="1200" dirty="0"/>
          </a:p>
          <a:p>
            <a:pPr marL="0" indent="0">
              <a:lnSpc>
                <a:spcPct val="105000"/>
              </a:lnSpc>
              <a:buNone/>
            </a:pPr>
            <a:r>
              <a:rPr lang="en-US" sz="950" dirty="0">
                <a:solidFill>
                  <a:srgbClr val="4A4A4A"/>
                </a:solidFill>
                <a:latin typeface="Calibri" pitchFamily="34" charset="0"/>
                <a:ea typeface="Calibri" pitchFamily="34" charset="-122"/>
                <a:cs typeface="Calibri" pitchFamily="34" charset="-120"/>
              </a:rPr>
              <a:t>Store movie records using appropriate data structures such as arrays, hash tables, trees, or graphs to enable quick access and management.</a:t>
            </a:r>
            <a:endParaRPr lang="en-US" sz="1200" dirty="0"/>
          </a:p>
        </p:txBody>
      </p:sp>
      <p:sp>
        <p:nvSpPr>
          <p:cNvPr id="17" name="Shape 15"/>
          <p:cNvSpPr/>
          <p:nvPr/>
        </p:nvSpPr>
        <p:spPr>
          <a:xfrm>
            <a:off x="548640" y="4581144"/>
            <a:ext cx="5440680" cy="841248"/>
          </a:xfrm>
          <a:prstGeom prst="roundRect">
            <a:avLst>
              <a:gd name="adj" fmla="val 6522"/>
            </a:avLst>
          </a:prstGeom>
          <a:solidFill>
            <a:srgbClr val="FCF6F5"/>
          </a:solidFill>
          <a:ln/>
        </p:spPr>
      </p:sp>
      <p:sp>
        <p:nvSpPr>
          <p:cNvPr id="18" name="Shape 16"/>
          <p:cNvSpPr/>
          <p:nvPr/>
        </p:nvSpPr>
        <p:spPr>
          <a:xfrm>
            <a:off x="685800" y="4700016"/>
            <a:ext cx="310896" cy="310896"/>
          </a:xfrm>
          <a:prstGeom prst="ellipse">
            <a:avLst/>
          </a:prstGeom>
          <a:solidFill>
            <a:srgbClr val="990011"/>
          </a:solidFill>
          <a:ln/>
        </p:spPr>
      </p:sp>
      <p:sp>
        <p:nvSpPr>
          <p:cNvPr id="19" name="Text 17"/>
          <p:cNvSpPr/>
          <p:nvPr/>
        </p:nvSpPr>
        <p:spPr>
          <a:xfrm>
            <a:off x="685800" y="470001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p:nvPr/>
        </p:nvSpPr>
        <p:spPr>
          <a:xfrm>
            <a:off x="1097280" y="4608576"/>
            <a:ext cx="4754880" cy="786384"/>
          </a:xfrm>
          <a:prstGeom prst="rect">
            <a:avLst/>
          </a:prstGeom>
          <a:noFill/>
          <a:ln/>
        </p:spPr>
        <p:txBody>
          <a:bodyPr wrap="square" lIns="0" tIns="0" rIns="0" bIns="0" rtlCol="0" anchor="t"/>
          <a:lstStyle/>
          <a:p>
            <a:pPr marL="0" indent="0">
              <a:lnSpc>
                <a:spcPct val="105000"/>
              </a:lnSpc>
              <a:buNone/>
            </a:pPr>
            <a:r>
              <a:rPr lang="en-US" sz="1200" b="1" dirty="0">
                <a:solidFill>
                  <a:srgbClr val="2F3C7E"/>
                </a:solidFill>
                <a:latin typeface="Calibri" pitchFamily="34" charset="0"/>
                <a:ea typeface="Calibri" pitchFamily="34" charset="-122"/>
                <a:cs typeface="Calibri" pitchFamily="34" charset="-120"/>
              </a:rPr>
              <a:t>Fast Lookup
</a:t>
            </a:r>
            <a:endParaRPr lang="en-US" sz="1200" dirty="0"/>
          </a:p>
          <a:p>
            <a:pPr marL="0" indent="0">
              <a:lnSpc>
                <a:spcPct val="105000"/>
              </a:lnSpc>
              <a:buNone/>
            </a:pPr>
            <a:r>
              <a:rPr lang="en-US" sz="950" dirty="0">
                <a:solidFill>
                  <a:srgbClr val="4A4A4A"/>
                </a:solidFill>
                <a:latin typeface="Calibri" pitchFamily="34" charset="0"/>
                <a:ea typeface="Calibri" pitchFamily="34" charset="-122"/>
                <a:cs typeface="Calibri" pitchFamily="34" charset="-120"/>
              </a:rPr>
              <a:t>Utilize hashing or indexing techniques to minimize search time and improve retrieval efficiency.</a:t>
            </a:r>
            <a:endParaRPr lang="en-US" sz="1200" dirty="0"/>
          </a:p>
        </p:txBody>
      </p:sp>
      <p:sp>
        <p:nvSpPr>
          <p:cNvPr id="21" name="Shape 19"/>
          <p:cNvSpPr/>
          <p:nvPr/>
        </p:nvSpPr>
        <p:spPr>
          <a:xfrm>
            <a:off x="548640" y="5513832"/>
            <a:ext cx="5440680" cy="841248"/>
          </a:xfrm>
          <a:prstGeom prst="roundRect">
            <a:avLst>
              <a:gd name="adj" fmla="val 6522"/>
            </a:avLst>
          </a:prstGeom>
          <a:solidFill>
            <a:srgbClr val="FCF6F5"/>
          </a:solidFill>
          <a:ln/>
        </p:spPr>
      </p:sp>
      <p:sp>
        <p:nvSpPr>
          <p:cNvPr id="22" name="Shape 20"/>
          <p:cNvSpPr/>
          <p:nvPr/>
        </p:nvSpPr>
        <p:spPr>
          <a:xfrm>
            <a:off x="685800" y="5632704"/>
            <a:ext cx="310896" cy="310896"/>
          </a:xfrm>
          <a:prstGeom prst="ellipse">
            <a:avLst/>
          </a:prstGeom>
          <a:solidFill>
            <a:srgbClr val="990011"/>
          </a:solidFill>
          <a:ln/>
        </p:spPr>
      </p:sp>
      <p:sp>
        <p:nvSpPr>
          <p:cNvPr id="23" name="Text 21"/>
          <p:cNvSpPr/>
          <p:nvPr/>
        </p:nvSpPr>
        <p:spPr>
          <a:xfrm>
            <a:off x="685800" y="56327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p:nvPr/>
        </p:nvSpPr>
        <p:spPr>
          <a:xfrm>
            <a:off x="1097280" y="5541264"/>
            <a:ext cx="4754880" cy="786384"/>
          </a:xfrm>
          <a:prstGeom prst="rect">
            <a:avLst/>
          </a:prstGeom>
          <a:noFill/>
          <a:ln/>
        </p:spPr>
        <p:txBody>
          <a:bodyPr wrap="square" lIns="0" tIns="0" rIns="0" bIns="0" rtlCol="0" anchor="t"/>
          <a:lstStyle/>
          <a:p>
            <a:pPr marL="0" indent="0">
              <a:lnSpc>
                <a:spcPct val="105000"/>
              </a:lnSpc>
              <a:buNone/>
            </a:pPr>
            <a:r>
              <a:rPr lang="en-US" sz="1200" b="1" dirty="0">
                <a:solidFill>
                  <a:srgbClr val="2F3C7E"/>
                </a:solidFill>
                <a:latin typeface="Calibri" pitchFamily="34" charset="0"/>
                <a:ea typeface="Calibri" pitchFamily="34" charset="-122"/>
                <a:cs typeface="Calibri" pitchFamily="34" charset="-120"/>
              </a:rPr>
              <a:t>Sorting Movies
</a:t>
            </a:r>
            <a:endParaRPr lang="en-US" sz="1200" dirty="0"/>
          </a:p>
          <a:p>
            <a:pPr marL="0" indent="0">
              <a:lnSpc>
                <a:spcPct val="105000"/>
              </a:lnSpc>
              <a:buNone/>
            </a:pPr>
            <a:r>
              <a:rPr lang="en-US" sz="950" dirty="0">
                <a:solidFill>
                  <a:srgbClr val="4A4A4A"/>
                </a:solidFill>
                <a:latin typeface="Calibri" pitchFamily="34" charset="0"/>
                <a:ea typeface="Calibri" pitchFamily="34" charset="-122"/>
                <a:cs typeface="Calibri" pitchFamily="34" charset="-120"/>
              </a:rPr>
              <a:t>Sort movies based on title, release year, rating, or popularity using efficient sorting algorithms such as Merge Sort or Quick Sort.</a:t>
            </a:r>
            <a:endParaRPr lang="en-US" sz="1200" dirty="0"/>
          </a:p>
        </p:txBody>
      </p:sp>
      <p:sp>
        <p:nvSpPr>
          <p:cNvPr id="25" name="Shape 23"/>
          <p:cNvSpPr/>
          <p:nvPr/>
        </p:nvSpPr>
        <p:spPr>
          <a:xfrm>
            <a:off x="6172200" y="1783080"/>
            <a:ext cx="5440680" cy="841248"/>
          </a:xfrm>
          <a:prstGeom prst="roundRect">
            <a:avLst>
              <a:gd name="adj" fmla="val 6522"/>
            </a:avLst>
          </a:prstGeom>
          <a:solidFill>
            <a:srgbClr val="FCF6F5"/>
          </a:solidFill>
          <a:ln/>
        </p:spPr>
      </p:sp>
      <p:sp>
        <p:nvSpPr>
          <p:cNvPr id="26" name="Shape 24"/>
          <p:cNvSpPr/>
          <p:nvPr/>
        </p:nvSpPr>
        <p:spPr>
          <a:xfrm>
            <a:off x="6309360" y="1901952"/>
            <a:ext cx="310896" cy="310896"/>
          </a:xfrm>
          <a:prstGeom prst="ellipse">
            <a:avLst/>
          </a:prstGeom>
          <a:solidFill>
            <a:srgbClr val="990011"/>
          </a:solidFill>
          <a:ln/>
        </p:spPr>
      </p:sp>
      <p:sp>
        <p:nvSpPr>
          <p:cNvPr id="27" name="Text 25"/>
          <p:cNvSpPr/>
          <p:nvPr/>
        </p:nvSpPr>
        <p:spPr>
          <a:xfrm>
            <a:off x="6309360" y="190195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6"/>
          <p:cNvSpPr/>
          <p:nvPr/>
        </p:nvSpPr>
        <p:spPr>
          <a:xfrm>
            <a:off x="6720840" y="1810512"/>
            <a:ext cx="4754880" cy="786384"/>
          </a:xfrm>
          <a:prstGeom prst="rect">
            <a:avLst/>
          </a:prstGeom>
          <a:noFill/>
          <a:ln/>
        </p:spPr>
        <p:txBody>
          <a:bodyPr wrap="square" lIns="0" tIns="0" rIns="0" bIns="0" rtlCol="0" anchor="t"/>
          <a:lstStyle/>
          <a:p>
            <a:pPr marL="0" indent="0">
              <a:lnSpc>
                <a:spcPct val="105000"/>
              </a:lnSpc>
              <a:buNone/>
            </a:pPr>
            <a:r>
              <a:rPr lang="en-US" sz="1200" b="1" dirty="0">
                <a:solidFill>
                  <a:srgbClr val="2F3C7E"/>
                </a:solidFill>
                <a:latin typeface="Calibri" pitchFamily="34" charset="0"/>
                <a:ea typeface="Calibri" pitchFamily="34" charset="-122"/>
                <a:cs typeface="Calibri" pitchFamily="34" charset="-120"/>
              </a:rPr>
              <a:t>Filter Movies
</a:t>
            </a:r>
            <a:endParaRPr lang="en-US" sz="1200" dirty="0"/>
          </a:p>
          <a:p>
            <a:pPr marL="0" indent="0">
              <a:lnSpc>
                <a:spcPct val="105000"/>
              </a:lnSpc>
              <a:buNone/>
            </a:pPr>
            <a:r>
              <a:rPr lang="en-US" sz="950" dirty="0">
                <a:solidFill>
                  <a:srgbClr val="4A4A4A"/>
                </a:solidFill>
                <a:latin typeface="Calibri" pitchFamily="34" charset="0"/>
                <a:ea typeface="Calibri" pitchFamily="34" charset="-122"/>
                <a:cs typeface="Calibri" pitchFamily="34" charset="-120"/>
              </a:rPr>
              <a:t>Filter movie lists by genre, language, release year, or rating before displaying search results.</a:t>
            </a:r>
            <a:endParaRPr lang="en-US" sz="1200" dirty="0"/>
          </a:p>
        </p:txBody>
      </p:sp>
      <p:sp>
        <p:nvSpPr>
          <p:cNvPr id="29" name="Shape 27"/>
          <p:cNvSpPr/>
          <p:nvPr/>
        </p:nvSpPr>
        <p:spPr>
          <a:xfrm>
            <a:off x="6172200" y="2715768"/>
            <a:ext cx="5440680" cy="841248"/>
          </a:xfrm>
          <a:prstGeom prst="roundRect">
            <a:avLst>
              <a:gd name="adj" fmla="val 6522"/>
            </a:avLst>
          </a:prstGeom>
          <a:solidFill>
            <a:srgbClr val="FCF6F5"/>
          </a:solidFill>
          <a:ln/>
        </p:spPr>
      </p:sp>
      <p:sp>
        <p:nvSpPr>
          <p:cNvPr id="30" name="Shape 28"/>
          <p:cNvSpPr/>
          <p:nvPr/>
        </p:nvSpPr>
        <p:spPr>
          <a:xfrm>
            <a:off x="6309360" y="2834640"/>
            <a:ext cx="310896" cy="310896"/>
          </a:xfrm>
          <a:prstGeom prst="ellipse">
            <a:avLst/>
          </a:prstGeom>
          <a:solidFill>
            <a:srgbClr val="990011"/>
          </a:solidFill>
          <a:ln/>
        </p:spPr>
      </p:sp>
      <p:sp>
        <p:nvSpPr>
          <p:cNvPr id="31" name="Text 29"/>
          <p:cNvSpPr/>
          <p:nvPr/>
        </p:nvSpPr>
        <p:spPr>
          <a:xfrm>
            <a:off x="6309360" y="283464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2" name="Text 30"/>
          <p:cNvSpPr/>
          <p:nvPr/>
        </p:nvSpPr>
        <p:spPr>
          <a:xfrm>
            <a:off x="6720840" y="2743200"/>
            <a:ext cx="4754880" cy="786384"/>
          </a:xfrm>
          <a:prstGeom prst="rect">
            <a:avLst/>
          </a:prstGeom>
          <a:noFill/>
          <a:ln/>
        </p:spPr>
        <p:txBody>
          <a:bodyPr wrap="square" lIns="0" tIns="0" rIns="0" bIns="0" rtlCol="0" anchor="t"/>
          <a:lstStyle/>
          <a:p>
            <a:pPr marL="0" indent="0">
              <a:lnSpc>
                <a:spcPct val="105000"/>
              </a:lnSpc>
              <a:buNone/>
            </a:pPr>
            <a:r>
              <a:rPr lang="en-US" sz="1200" b="1" dirty="0">
                <a:solidFill>
                  <a:srgbClr val="2F3C7E"/>
                </a:solidFill>
                <a:latin typeface="Calibri" pitchFamily="34" charset="0"/>
                <a:ea typeface="Calibri" pitchFamily="34" charset="-122"/>
                <a:cs typeface="Calibri" pitchFamily="34" charset="-120"/>
              </a:rPr>
              <a:t>Auto-Complete Suggestions
</a:t>
            </a:r>
            <a:endParaRPr lang="en-US" sz="1200" dirty="0"/>
          </a:p>
          <a:p>
            <a:pPr marL="0" indent="0">
              <a:lnSpc>
                <a:spcPct val="105000"/>
              </a:lnSpc>
              <a:buNone/>
            </a:pPr>
            <a:r>
              <a:rPr lang="en-US" sz="950" dirty="0">
                <a:solidFill>
                  <a:srgbClr val="4A4A4A"/>
                </a:solidFill>
                <a:latin typeface="Calibri" pitchFamily="34" charset="0"/>
                <a:ea typeface="Calibri" pitchFamily="34" charset="-122"/>
                <a:cs typeface="Calibri" pitchFamily="34" charset="-120"/>
              </a:rPr>
              <a:t>Provide search suggestions while the user types using Trie or prefix-based searching techniques.</a:t>
            </a:r>
            <a:endParaRPr lang="en-US" sz="1200" dirty="0"/>
          </a:p>
        </p:txBody>
      </p:sp>
      <p:sp>
        <p:nvSpPr>
          <p:cNvPr id="33" name="Shape 31"/>
          <p:cNvSpPr/>
          <p:nvPr/>
        </p:nvSpPr>
        <p:spPr>
          <a:xfrm>
            <a:off x="6172200" y="3648456"/>
            <a:ext cx="5440680" cy="841248"/>
          </a:xfrm>
          <a:prstGeom prst="roundRect">
            <a:avLst>
              <a:gd name="adj" fmla="val 6522"/>
            </a:avLst>
          </a:prstGeom>
          <a:solidFill>
            <a:srgbClr val="FCF6F5"/>
          </a:solidFill>
          <a:ln/>
        </p:spPr>
      </p:sp>
      <p:sp>
        <p:nvSpPr>
          <p:cNvPr id="34" name="Shape 32"/>
          <p:cNvSpPr/>
          <p:nvPr/>
        </p:nvSpPr>
        <p:spPr>
          <a:xfrm>
            <a:off x="6309360" y="3767328"/>
            <a:ext cx="310896" cy="310896"/>
          </a:xfrm>
          <a:prstGeom prst="ellipse">
            <a:avLst/>
          </a:prstGeom>
          <a:solidFill>
            <a:srgbClr val="990011"/>
          </a:solidFill>
          <a:ln/>
        </p:spPr>
      </p:sp>
      <p:sp>
        <p:nvSpPr>
          <p:cNvPr id="35" name="Text 33"/>
          <p:cNvSpPr/>
          <p:nvPr/>
        </p:nvSpPr>
        <p:spPr>
          <a:xfrm>
            <a:off x="6309360" y="376732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6" name="Text 34"/>
          <p:cNvSpPr/>
          <p:nvPr/>
        </p:nvSpPr>
        <p:spPr>
          <a:xfrm>
            <a:off x="6720840" y="3675888"/>
            <a:ext cx="4754880" cy="786384"/>
          </a:xfrm>
          <a:prstGeom prst="rect">
            <a:avLst/>
          </a:prstGeom>
          <a:noFill/>
          <a:ln/>
        </p:spPr>
        <p:txBody>
          <a:bodyPr wrap="square" lIns="0" tIns="0" rIns="0" bIns="0" rtlCol="0" anchor="t"/>
          <a:lstStyle/>
          <a:p>
            <a:pPr marL="0" indent="0">
              <a:lnSpc>
                <a:spcPct val="105000"/>
              </a:lnSpc>
              <a:buNone/>
            </a:pPr>
            <a:r>
              <a:rPr lang="en-US" sz="1200" b="1" dirty="0">
                <a:solidFill>
                  <a:srgbClr val="2F3C7E"/>
                </a:solidFill>
                <a:latin typeface="Calibri" pitchFamily="34" charset="0"/>
                <a:ea typeface="Calibri" pitchFamily="34" charset="-122"/>
                <a:cs typeface="Calibri" pitchFamily="34" charset="-120"/>
              </a:rPr>
              <a:t>Search Performance Comparison
</a:t>
            </a:r>
            <a:endParaRPr lang="en-US" sz="1200" dirty="0"/>
          </a:p>
          <a:p>
            <a:pPr marL="0" indent="0">
              <a:lnSpc>
                <a:spcPct val="105000"/>
              </a:lnSpc>
              <a:buNone/>
            </a:pPr>
            <a:r>
              <a:rPr lang="en-US" sz="950" dirty="0">
                <a:solidFill>
                  <a:srgbClr val="4A4A4A"/>
                </a:solidFill>
                <a:latin typeface="Calibri" pitchFamily="34" charset="0"/>
                <a:ea typeface="Calibri" pitchFamily="34" charset="-122"/>
                <a:cs typeface="Calibri" pitchFamily="34" charset="-120"/>
              </a:rPr>
              <a:t>Compare the execution time of different searching algorithms (Linear Search vs. Binary Search) on the movie dataset to analyze their efficiency.</a:t>
            </a:r>
            <a:endParaRPr lang="en-US" sz="1200" dirty="0"/>
          </a:p>
        </p:txBody>
      </p:sp>
      <p:sp>
        <p:nvSpPr>
          <p:cNvPr id="37" name="Shape 35"/>
          <p:cNvSpPr/>
          <p:nvPr/>
        </p:nvSpPr>
        <p:spPr>
          <a:xfrm>
            <a:off x="6172200" y="4581144"/>
            <a:ext cx="5440680" cy="841248"/>
          </a:xfrm>
          <a:prstGeom prst="roundRect">
            <a:avLst>
              <a:gd name="adj" fmla="val 6522"/>
            </a:avLst>
          </a:prstGeom>
          <a:solidFill>
            <a:srgbClr val="FCF6F5"/>
          </a:solidFill>
          <a:ln/>
        </p:spPr>
      </p:sp>
      <p:sp>
        <p:nvSpPr>
          <p:cNvPr id="38" name="Shape 36"/>
          <p:cNvSpPr/>
          <p:nvPr/>
        </p:nvSpPr>
        <p:spPr>
          <a:xfrm>
            <a:off x="6309360" y="4700016"/>
            <a:ext cx="310896" cy="310896"/>
          </a:xfrm>
          <a:prstGeom prst="ellipse">
            <a:avLst/>
          </a:prstGeom>
          <a:solidFill>
            <a:srgbClr val="990011"/>
          </a:solidFill>
          <a:ln/>
        </p:spPr>
      </p:sp>
      <p:sp>
        <p:nvSpPr>
          <p:cNvPr id="39" name="Text 37"/>
          <p:cNvSpPr/>
          <p:nvPr/>
        </p:nvSpPr>
        <p:spPr>
          <a:xfrm>
            <a:off x="6309360" y="470001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0" name="Text 38"/>
          <p:cNvSpPr/>
          <p:nvPr/>
        </p:nvSpPr>
        <p:spPr>
          <a:xfrm>
            <a:off x="6720840" y="4608576"/>
            <a:ext cx="4754880" cy="786384"/>
          </a:xfrm>
          <a:prstGeom prst="rect">
            <a:avLst/>
          </a:prstGeom>
          <a:noFill/>
          <a:ln/>
        </p:spPr>
        <p:txBody>
          <a:bodyPr wrap="square" lIns="0" tIns="0" rIns="0" bIns="0" rtlCol="0" anchor="t"/>
          <a:lstStyle/>
          <a:p>
            <a:pPr marL="0" indent="0">
              <a:lnSpc>
                <a:spcPct val="105000"/>
              </a:lnSpc>
              <a:buNone/>
            </a:pPr>
            <a:r>
              <a:rPr lang="en-US" sz="1200" b="1" dirty="0">
                <a:solidFill>
                  <a:srgbClr val="2F3C7E"/>
                </a:solidFill>
                <a:latin typeface="Calibri" pitchFamily="34" charset="0"/>
                <a:ea typeface="Calibri" pitchFamily="34" charset="-122"/>
                <a:cs typeface="Calibri" pitchFamily="34" charset="-120"/>
              </a:rPr>
              <a:t>Movie Details Display
</a:t>
            </a:r>
            <a:endParaRPr lang="en-US" sz="1200" dirty="0"/>
          </a:p>
          <a:p>
            <a:pPr marL="0" indent="0">
              <a:lnSpc>
                <a:spcPct val="105000"/>
              </a:lnSpc>
              <a:buNone/>
            </a:pPr>
            <a:r>
              <a:rPr lang="en-US" sz="950" dirty="0">
                <a:solidFill>
                  <a:srgbClr val="4A4A4A"/>
                </a:solidFill>
                <a:latin typeface="Calibri" pitchFamily="34" charset="0"/>
                <a:ea typeface="Calibri" pitchFamily="34" charset="-122"/>
                <a:cs typeface="Calibri" pitchFamily="34" charset="-120"/>
              </a:rPr>
              <a:t>Display relevant information such as title, cast, genre, rating, release year, and synopsis after a successful search.</a:t>
            </a:r>
            <a:endParaRPr lang="en-US" sz="1200" dirty="0"/>
          </a:p>
        </p:txBody>
      </p:sp>
      <p:sp>
        <p:nvSpPr>
          <p:cNvPr id="41" name="Shape 39"/>
          <p:cNvSpPr/>
          <p:nvPr/>
        </p:nvSpPr>
        <p:spPr>
          <a:xfrm>
            <a:off x="6172200" y="5513832"/>
            <a:ext cx="5440680" cy="841248"/>
          </a:xfrm>
          <a:prstGeom prst="roundRect">
            <a:avLst>
              <a:gd name="adj" fmla="val 6522"/>
            </a:avLst>
          </a:prstGeom>
          <a:solidFill>
            <a:srgbClr val="FCF6F5"/>
          </a:solidFill>
          <a:ln/>
        </p:spPr>
      </p:sp>
      <p:sp>
        <p:nvSpPr>
          <p:cNvPr id="42" name="Shape 40"/>
          <p:cNvSpPr/>
          <p:nvPr/>
        </p:nvSpPr>
        <p:spPr>
          <a:xfrm>
            <a:off x="6309360" y="5632704"/>
            <a:ext cx="310896" cy="310896"/>
          </a:xfrm>
          <a:prstGeom prst="ellipse">
            <a:avLst/>
          </a:prstGeom>
          <a:solidFill>
            <a:srgbClr val="990011"/>
          </a:solidFill>
          <a:ln/>
        </p:spPr>
      </p:sp>
      <p:sp>
        <p:nvSpPr>
          <p:cNvPr id="43" name="Text 41"/>
          <p:cNvSpPr/>
          <p:nvPr/>
        </p:nvSpPr>
        <p:spPr>
          <a:xfrm>
            <a:off x="6309360" y="56327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4" name="Text 42"/>
          <p:cNvSpPr/>
          <p:nvPr/>
        </p:nvSpPr>
        <p:spPr>
          <a:xfrm>
            <a:off x="6720840" y="5541264"/>
            <a:ext cx="4754880" cy="786384"/>
          </a:xfrm>
          <a:prstGeom prst="rect">
            <a:avLst/>
          </a:prstGeom>
          <a:noFill/>
          <a:ln/>
        </p:spPr>
        <p:txBody>
          <a:bodyPr wrap="square" lIns="0" tIns="0" rIns="0" bIns="0" rtlCol="0" anchor="t"/>
          <a:lstStyle/>
          <a:p>
            <a:pPr marL="0" indent="0">
              <a:lnSpc>
                <a:spcPct val="105000"/>
              </a:lnSpc>
              <a:buNone/>
            </a:pPr>
            <a:r>
              <a:rPr lang="en-US" sz="1200" b="1" dirty="0">
                <a:solidFill>
                  <a:srgbClr val="2F3C7E"/>
                </a:solidFill>
                <a:latin typeface="Calibri" pitchFamily="34" charset="0"/>
                <a:ea typeface="Calibri" pitchFamily="34" charset="-122"/>
                <a:cs typeface="Calibri" pitchFamily="34" charset="-120"/>
              </a:rPr>
              <a:t>Algorithm Performance Analysis
</a:t>
            </a:r>
            <a:endParaRPr lang="en-US" sz="1200" dirty="0"/>
          </a:p>
          <a:p>
            <a:pPr marL="0" indent="0">
              <a:lnSpc>
                <a:spcPct val="105000"/>
              </a:lnSpc>
              <a:buNone/>
            </a:pPr>
            <a:r>
              <a:rPr lang="en-US" sz="950" dirty="0">
                <a:solidFill>
                  <a:srgbClr val="4A4A4A"/>
                </a:solidFill>
                <a:latin typeface="Calibri" pitchFamily="34" charset="0"/>
                <a:ea typeface="Calibri" pitchFamily="34" charset="-122"/>
                <a:cs typeface="Calibri" pitchFamily="34" charset="-120"/>
              </a:rPr>
              <a:t>Analyze the time and space complexity of the implemented data structures and algorithms to demonstrate their effectiveness on large movie datasets.</a:t>
            </a:r>
            <a:endParaRPr lang="en-US" sz="1200" dirty="0"/>
          </a:p>
        </p:txBody>
      </p:sp>
      <p:sp>
        <p:nvSpPr>
          <p:cNvPr id="45" name="Text 43"/>
          <p:cNvSpPr/>
          <p:nvPr/>
        </p:nvSpPr>
        <p:spPr>
          <a:xfrm>
            <a:off x="457200" y="6537960"/>
            <a:ext cx="3657600" cy="274320"/>
          </a:xfrm>
          <a:prstGeom prst="rect">
            <a:avLst/>
          </a:prstGeom>
          <a:noFill/>
          <a:ln/>
        </p:spPr>
        <p:txBody>
          <a:bodyPr wrap="square" lIns="0" tIns="0" rIns="0" bIns="0" rtlCol="0" anchor="ctr"/>
          <a:lstStyle/>
          <a:p>
            <a:pPr marL="0" indent="0">
              <a:buNone/>
            </a:pPr>
            <a:r>
              <a:rPr lang="en-US" sz="1000" dirty="0">
                <a:solidFill>
                  <a:srgbClr val="9A9A9A"/>
                </a:solidFill>
                <a:latin typeface="Calibri" pitchFamily="34" charset="0"/>
                <a:ea typeface="Calibri" pitchFamily="34" charset="-122"/>
                <a:cs typeface="Calibri" pitchFamily="34" charset="-120"/>
              </a:rPr>
              <a:t>Data Structures - 3</a:t>
            </a:r>
            <a:endParaRPr lang="en-US" sz="1000" dirty="0"/>
          </a:p>
        </p:txBody>
      </p:sp>
      <p:sp>
        <p:nvSpPr>
          <p:cNvPr id="46" name="Text 44"/>
          <p:cNvSpPr/>
          <p:nvPr/>
        </p:nvSpPr>
        <p:spPr>
          <a:xfrm>
            <a:off x="11247120" y="6537960"/>
            <a:ext cx="457200" cy="274320"/>
          </a:xfrm>
          <a:prstGeom prst="rect">
            <a:avLst/>
          </a:prstGeom>
          <a:noFill/>
          <a:ln/>
        </p:spPr>
        <p:txBody>
          <a:bodyPr wrap="square" lIns="0" tIns="0" rIns="0" bIns="0" rtlCol="0" anchor="ctr"/>
          <a:lstStyle/>
          <a:p>
            <a:pPr marL="0" indent="0" algn="r">
              <a:buNone/>
            </a:pPr>
            <a:r>
              <a:rPr lang="en-US" sz="1000" dirty="0">
                <a:solidFill>
                  <a:srgbClr val="9A9A9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F3C7E"/>
          </a:solidFill>
          <a:ln/>
        </p:spPr>
      </p:sp>
      <p:sp>
        <p:nvSpPr>
          <p:cNvPr id="3" name="Text 1"/>
          <p:cNvSpPr/>
          <p:nvPr/>
        </p:nvSpPr>
        <p:spPr>
          <a:xfrm>
            <a:off x="548640" y="0"/>
            <a:ext cx="10972800" cy="105156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4. Tools and Technologies to be used</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4773168"/>
        </p:xfrm>
        <a:graphic>
          <a:graphicData uri="http://schemas.openxmlformats.org/drawingml/2006/table">
            <a:tbl>
              <a:tblPr/>
              <a:tblGrid>
                <a:gridCol w="3657600">
                  <a:extLst>
                    <a:ext uri="{9D8B030D-6E8A-4147-A177-3AD203B41FA5}">
                      <a16:colId xmlns:a16="http://schemas.microsoft.com/office/drawing/2014/main" val="20000"/>
                    </a:ext>
                  </a:extLst>
                </a:gridCol>
                <a:gridCol w="7406640">
                  <a:extLst>
                    <a:ext uri="{9D8B030D-6E8A-4147-A177-3AD203B41FA5}">
                      <a16:colId xmlns:a16="http://schemas.microsoft.com/office/drawing/2014/main" val="20001"/>
                    </a:ext>
                  </a:extLst>
                </a:gridCol>
              </a:tblGrid>
              <a:tr h="53035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Module</a:t>
                      </a:r>
                      <a:endParaRPr lang="en-US" sz="130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99001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Algorithms/Concepts Used</a:t>
                      </a:r>
                      <a:endParaRPr lang="en-US" sz="130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530352">
                <a:tc>
                  <a:txBody>
                    <a:bodyPr/>
                    <a:lstStyle/>
                    <a:p>
                      <a:pPr marL="0" indent="0">
                        <a:buNone/>
                      </a:pPr>
                      <a:r>
                        <a:rPr lang="en-US" sz="1250" b="1" dirty="0">
                          <a:solidFill>
                            <a:srgbClr val="2F3C7E"/>
                          </a:solidFill>
                          <a:latin typeface="Calibri" pitchFamily="34" charset="0"/>
                          <a:ea typeface="Calibri" pitchFamily="34" charset="-122"/>
                          <a:cs typeface="Calibri" pitchFamily="34" charset="-120"/>
                        </a:rPr>
                        <a:t>Movie Dataset Loading</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Arrays, Vectors, File Handling</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250" b="1" dirty="0">
                          <a:solidFill>
                            <a:srgbClr val="2F3C7E"/>
                          </a:solidFill>
                          <a:latin typeface="Calibri" pitchFamily="34" charset="0"/>
                          <a:ea typeface="Calibri" pitchFamily="34" charset="-122"/>
                          <a:cs typeface="Calibri" pitchFamily="34" charset="-120"/>
                        </a:rPr>
                        <a:t>Fast Search</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CF6F5"/>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KMP, Rabin-Karp, Binary Search, Hashing</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CF6F5"/>
                    </a:solidFill>
                  </a:tcPr>
                </a:tc>
                <a:extLst>
                  <a:ext uri="{0D108BD9-81ED-4DB2-BD59-A6C34878D82A}">
                    <a16:rowId xmlns:a16="http://schemas.microsoft.com/office/drawing/2014/main" val="10002"/>
                  </a:ext>
                </a:extLst>
              </a:tr>
              <a:tr h="530352">
                <a:tc>
                  <a:txBody>
                    <a:bodyPr/>
                    <a:lstStyle/>
                    <a:p>
                      <a:pPr marL="0" indent="0">
                        <a:buNone/>
                      </a:pPr>
                      <a:r>
                        <a:rPr lang="en-US" sz="1250" b="1" dirty="0">
                          <a:solidFill>
                            <a:srgbClr val="2F3C7E"/>
                          </a:solidFill>
                          <a:latin typeface="Calibri" pitchFamily="34" charset="0"/>
                          <a:ea typeface="Calibri" pitchFamily="34" charset="-122"/>
                          <a:cs typeface="Calibri" pitchFamily="34" charset="-120"/>
                        </a:rPr>
                        <a:t>Auto-Complete</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Trie</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250" b="1" dirty="0">
                          <a:solidFill>
                            <a:srgbClr val="2F3C7E"/>
                          </a:solidFill>
                          <a:latin typeface="Calibri" pitchFamily="34" charset="0"/>
                          <a:ea typeface="Calibri" pitchFamily="34" charset="-122"/>
                          <a:cs typeface="Calibri" pitchFamily="34" charset="-120"/>
                        </a:rPr>
                        <a:t>Movie Sorting</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CF6F5"/>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Merge Sort, Quick Sort</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CF6F5"/>
                    </a:solidFill>
                  </a:tcPr>
                </a:tc>
                <a:extLst>
                  <a:ext uri="{0D108BD9-81ED-4DB2-BD59-A6C34878D82A}">
                    <a16:rowId xmlns:a16="http://schemas.microsoft.com/office/drawing/2014/main" val="10004"/>
                  </a:ext>
                </a:extLst>
              </a:tr>
              <a:tr h="530352">
                <a:tc>
                  <a:txBody>
                    <a:bodyPr/>
                    <a:lstStyle/>
                    <a:p>
                      <a:pPr marL="0" indent="0">
                        <a:buNone/>
                      </a:pPr>
                      <a:r>
                        <a:rPr lang="en-US" sz="1250" b="1" dirty="0">
                          <a:solidFill>
                            <a:srgbClr val="2F3C7E"/>
                          </a:solidFill>
                          <a:latin typeface="Calibri" pitchFamily="34" charset="0"/>
                          <a:ea typeface="Calibri" pitchFamily="34" charset="-122"/>
                          <a:cs typeface="Calibri" pitchFamily="34" charset="-120"/>
                        </a:rPr>
                        <a:t>Recommendation</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Dynamic Programming, Graph Algorithms</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buNone/>
                      </a:pPr>
                      <a:r>
                        <a:rPr lang="en-US" sz="1250" b="1" dirty="0">
                          <a:solidFill>
                            <a:srgbClr val="2F3C7E"/>
                          </a:solidFill>
                          <a:latin typeface="Calibri" pitchFamily="34" charset="0"/>
                          <a:ea typeface="Calibri" pitchFamily="34" charset="-122"/>
                          <a:cs typeface="Calibri" pitchFamily="34" charset="-120"/>
                        </a:rPr>
                        <a:t>Actor/Genre Connections</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CF6F5"/>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Graph, BFS/DFS</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CF6F5"/>
                    </a:solidFill>
                  </a:tcPr>
                </a:tc>
                <a:extLst>
                  <a:ext uri="{0D108BD9-81ED-4DB2-BD59-A6C34878D82A}">
                    <a16:rowId xmlns:a16="http://schemas.microsoft.com/office/drawing/2014/main" val="10006"/>
                  </a:ext>
                </a:extLst>
              </a:tr>
              <a:tr h="530352">
                <a:tc>
                  <a:txBody>
                    <a:bodyPr/>
                    <a:lstStyle/>
                    <a:p>
                      <a:pPr marL="0" indent="0">
                        <a:buNone/>
                      </a:pPr>
                      <a:r>
                        <a:rPr lang="en-US" sz="1250" b="1" dirty="0">
                          <a:solidFill>
                            <a:srgbClr val="2F3C7E"/>
                          </a:solidFill>
                          <a:latin typeface="Calibri" pitchFamily="34" charset="0"/>
                          <a:ea typeface="Calibri" pitchFamily="34" charset="-122"/>
                          <a:cs typeface="Calibri" pitchFamily="34" charset="-120"/>
                        </a:rPr>
                        <a:t>Performance Evaluation</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Big-O Analysis</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30352">
                <a:tc>
                  <a:txBody>
                    <a:bodyPr/>
                    <a:lstStyle/>
                    <a:p>
                      <a:pPr marL="0" indent="0">
                        <a:buNone/>
                      </a:pPr>
                      <a:r>
                        <a:rPr lang="en-US" sz="1250" b="1" dirty="0">
                          <a:solidFill>
                            <a:srgbClr val="2F3C7E"/>
                          </a:solidFill>
                          <a:latin typeface="Calibri" pitchFamily="34" charset="0"/>
                          <a:ea typeface="Calibri" pitchFamily="34" charset="-122"/>
                          <a:cs typeface="Calibri" pitchFamily="34" charset="-120"/>
                        </a:rPr>
                        <a:t>Optimization</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CF6F5"/>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Approximation Algorithms, Randomized Algorithms</a:t>
                      </a:r>
                      <a:endParaRPr lang="en-US" sz="1250" dirty="0">
                        <a:latin typeface="Calibri" charset="0"/>
                        <a:ea typeface="Calibri" charset="0"/>
                        <a:cs typeface="Calibri" charset="0"/>
                      </a:endParaRPr>
                    </a:p>
                  </a:txBody>
                  <a:tcPr marL="101600" marR="101600" marT="50800" marB="50800" anchor="ctr">
                    <a:lnL w="9525" cap="flat" cmpd="sng" algn="ctr">
                      <a:solidFill>
                        <a:srgbClr val="E0DADA"/>
                      </a:solidFill>
                      <a:prstDash val="solid"/>
                      <a:round/>
                      <a:headEnd type="none" w="med" len="med"/>
                      <a:tailEnd type="none" w="med" len="med"/>
                    </a:lnL>
                    <a:lnR w="9525" cap="flat" cmpd="sng" algn="ctr">
                      <a:solidFill>
                        <a:srgbClr val="E0DADA"/>
                      </a:solidFill>
                      <a:prstDash val="solid"/>
                      <a:round/>
                      <a:headEnd type="none" w="med" len="med"/>
                      <a:tailEnd type="none" w="med" len="med"/>
                    </a:lnR>
                    <a:lnT w="9525" cap="flat" cmpd="sng" algn="ctr">
                      <a:solidFill>
                        <a:srgbClr val="E0DADA"/>
                      </a:solidFill>
                      <a:prstDash val="solid"/>
                      <a:round/>
                      <a:headEnd type="none" w="med" len="med"/>
                      <a:tailEnd type="none" w="med" len="med"/>
                    </a:lnT>
                    <a:lnB w="9525" cap="flat" cmpd="sng" algn="ctr">
                      <a:solidFill>
                        <a:srgbClr val="E0DADA"/>
                      </a:solidFill>
                      <a:prstDash val="solid"/>
                      <a:round/>
                      <a:headEnd type="none" w="med" len="med"/>
                      <a:tailEnd type="none" w="med" len="med"/>
                    </a:lnB>
                    <a:solidFill>
                      <a:srgbClr val="FCF6F5"/>
                    </a:solidFill>
                  </a:tcPr>
                </a:tc>
                <a:extLst>
                  <a:ext uri="{0D108BD9-81ED-4DB2-BD59-A6C34878D82A}">
                    <a16:rowId xmlns:a16="http://schemas.microsoft.com/office/drawing/2014/main" val="10008"/>
                  </a:ext>
                </a:extLst>
              </a:tr>
            </a:tbl>
          </a:graphicData>
        </a:graphic>
      </p:graphicFrame>
      <p:sp>
        <p:nvSpPr>
          <p:cNvPr id="5" name="Text 2"/>
          <p:cNvSpPr/>
          <p:nvPr/>
        </p:nvSpPr>
        <p:spPr>
          <a:xfrm>
            <a:off x="457200" y="6537960"/>
            <a:ext cx="3657600" cy="274320"/>
          </a:xfrm>
          <a:prstGeom prst="rect">
            <a:avLst/>
          </a:prstGeom>
          <a:noFill/>
          <a:ln/>
        </p:spPr>
        <p:txBody>
          <a:bodyPr wrap="square" lIns="0" tIns="0" rIns="0" bIns="0" rtlCol="0" anchor="ctr"/>
          <a:lstStyle/>
          <a:p>
            <a:pPr marL="0" indent="0">
              <a:buNone/>
            </a:pPr>
            <a:r>
              <a:rPr lang="en-US" sz="1000" dirty="0">
                <a:solidFill>
                  <a:srgbClr val="9A9A9A"/>
                </a:solidFill>
                <a:latin typeface="Calibri" pitchFamily="34" charset="0"/>
                <a:ea typeface="Calibri" pitchFamily="34" charset="-122"/>
                <a:cs typeface="Calibri" pitchFamily="34" charset="-120"/>
              </a:rPr>
              <a:t>Data Structures - 3</a:t>
            </a:r>
            <a:endParaRPr lang="en-US" sz="1000" dirty="0"/>
          </a:p>
        </p:txBody>
      </p:sp>
      <p:sp>
        <p:nvSpPr>
          <p:cNvPr id="4" name="Text 3"/>
          <p:cNvSpPr/>
          <p:nvPr/>
        </p:nvSpPr>
        <p:spPr>
          <a:xfrm>
            <a:off x="11247120" y="6537960"/>
            <a:ext cx="457200" cy="274320"/>
          </a:xfrm>
          <a:prstGeom prst="rect">
            <a:avLst/>
          </a:prstGeom>
          <a:noFill/>
          <a:ln/>
        </p:spPr>
        <p:txBody>
          <a:bodyPr wrap="square" lIns="0" tIns="0" rIns="0" bIns="0" rtlCol="0" anchor="ctr"/>
          <a:lstStyle/>
          <a:p>
            <a:pPr marL="0" indent="0" algn="r">
              <a:buNone/>
            </a:pPr>
            <a:r>
              <a:rPr lang="en-US" sz="1000" dirty="0">
                <a:solidFill>
                  <a:srgbClr val="9A9A9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6. Expected Outcomes</a:t>
            </a:r>
            <a:endParaRPr lang="en-US" sz="3000" dirty="0"/>
          </a:p>
        </p:txBody>
      </p:sp>
      <p:sp>
        <p:nvSpPr>
          <p:cNvPr id="3" name="Text 1"/>
          <p:cNvSpPr/>
          <p:nvPr/>
        </p:nvSpPr>
        <p:spPr>
          <a:xfrm>
            <a:off x="548640" y="960120"/>
            <a:ext cx="11064240" cy="548640"/>
          </a:xfrm>
          <a:prstGeom prst="rect">
            <a:avLst/>
          </a:prstGeom>
          <a:noFill/>
          <a:ln/>
        </p:spPr>
        <p:txBody>
          <a:bodyPr wrap="square" lIns="0" tIns="0" rIns="0" bIns="0" rtlCol="0" anchor="ctr"/>
          <a:lstStyle/>
          <a:p>
            <a:pPr marL="0" indent="0">
              <a:buNone/>
            </a:pPr>
            <a:r>
              <a:rPr lang="en-US" sz="1250" i="1" dirty="0">
                <a:solidFill>
                  <a:srgbClr val="C9C9D6"/>
                </a:solidFill>
                <a:latin typeface="Calibri" pitchFamily="34" charset="0"/>
                <a:ea typeface="Calibri" pitchFamily="34" charset="-122"/>
                <a:cs typeface="Calibri" pitchFamily="34" charset="-120"/>
              </a:rPr>
              <a:t>The MovieFlix project is expected to develop an efficient movie search system by applying advanced Data Structures and Algorithms. Upon completion of the project, the following outcomes are expected:</a:t>
            </a:r>
            <a:endParaRPr lang="en-US" sz="1250" dirty="0"/>
          </a:p>
        </p:txBody>
      </p:sp>
      <p:sp>
        <p:nvSpPr>
          <p:cNvPr id="4" name="Shape 2"/>
          <p:cNvSpPr/>
          <p:nvPr/>
        </p:nvSpPr>
        <p:spPr>
          <a:xfrm>
            <a:off x="548640" y="1645920"/>
            <a:ext cx="5440680" cy="1115568"/>
          </a:xfrm>
          <a:prstGeom prst="roundRect">
            <a:avLst>
              <a:gd name="adj" fmla="val 4918"/>
            </a:avLst>
          </a:prstGeom>
          <a:solidFill>
            <a:srgbClr val="252542"/>
          </a:solidFill>
          <a:ln/>
        </p:spPr>
      </p:sp>
      <p:sp>
        <p:nvSpPr>
          <p:cNvPr id="5" name="Shape 3"/>
          <p:cNvSpPr/>
          <p:nvPr/>
        </p:nvSpPr>
        <p:spPr>
          <a:xfrm>
            <a:off x="685800" y="1764792"/>
            <a:ext cx="329184" cy="329184"/>
          </a:xfrm>
          <a:prstGeom prst="ellipse">
            <a:avLst/>
          </a:prstGeom>
          <a:solidFill>
            <a:srgbClr val="990011"/>
          </a:solidFill>
          <a:ln/>
        </p:spPr>
      </p:sp>
      <p:sp>
        <p:nvSpPr>
          <p:cNvPr id="6" name="Text 4"/>
          <p:cNvSpPr/>
          <p:nvPr/>
        </p:nvSpPr>
        <p:spPr>
          <a:xfrm>
            <a:off x="685800" y="176479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43000" y="1700784"/>
            <a:ext cx="4663440" cy="1005840"/>
          </a:xfrm>
          <a:prstGeom prst="rect">
            <a:avLst/>
          </a:prstGeom>
          <a:noFill/>
          <a:ln/>
        </p:spPr>
        <p:txBody>
          <a:bodyPr wrap="square" lIns="0" tIns="0" rIns="0" bIns="0"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Efficient Movie Search
</a:t>
            </a:r>
            <a:endParaRPr lang="en-US" sz="1250" dirty="0"/>
          </a:p>
          <a:p>
            <a:pPr marL="0" indent="0">
              <a:lnSpc>
                <a:spcPct val="108000"/>
              </a:lnSpc>
              <a:buNone/>
            </a:pPr>
            <a:r>
              <a:rPr lang="en-US" sz="950" dirty="0">
                <a:solidFill>
                  <a:srgbClr val="C9C9D6"/>
                </a:solidFill>
                <a:latin typeface="Calibri" pitchFamily="34" charset="0"/>
                <a:ea typeface="Calibri" pitchFamily="34" charset="-122"/>
                <a:cs typeface="Calibri" pitchFamily="34" charset="-120"/>
              </a:rPr>
              <a:t>Enable users to search movies quickly using advanced string matching algorithms such as KMP and Rabin-Karp.</a:t>
            </a:r>
            <a:endParaRPr lang="en-US" sz="1250" dirty="0"/>
          </a:p>
        </p:txBody>
      </p:sp>
      <p:sp>
        <p:nvSpPr>
          <p:cNvPr id="8" name="Shape 6"/>
          <p:cNvSpPr/>
          <p:nvPr/>
        </p:nvSpPr>
        <p:spPr>
          <a:xfrm>
            <a:off x="548640" y="2852928"/>
            <a:ext cx="5440680" cy="1115568"/>
          </a:xfrm>
          <a:prstGeom prst="roundRect">
            <a:avLst>
              <a:gd name="adj" fmla="val 4918"/>
            </a:avLst>
          </a:prstGeom>
          <a:solidFill>
            <a:srgbClr val="252542"/>
          </a:solidFill>
          <a:ln/>
        </p:spPr>
      </p:sp>
      <p:sp>
        <p:nvSpPr>
          <p:cNvPr id="9" name="Shape 7"/>
          <p:cNvSpPr/>
          <p:nvPr/>
        </p:nvSpPr>
        <p:spPr>
          <a:xfrm>
            <a:off x="685800" y="2971800"/>
            <a:ext cx="329184" cy="329184"/>
          </a:xfrm>
          <a:prstGeom prst="ellipse">
            <a:avLst/>
          </a:prstGeom>
          <a:solidFill>
            <a:srgbClr val="990011"/>
          </a:solidFill>
          <a:ln/>
        </p:spPr>
      </p:sp>
      <p:sp>
        <p:nvSpPr>
          <p:cNvPr id="10" name="Text 8"/>
          <p:cNvSpPr/>
          <p:nvPr/>
        </p:nvSpPr>
        <p:spPr>
          <a:xfrm>
            <a:off x="685800" y="297180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907792"/>
            <a:ext cx="4663440" cy="1005840"/>
          </a:xfrm>
          <a:prstGeom prst="rect">
            <a:avLst/>
          </a:prstGeom>
          <a:noFill/>
          <a:ln/>
        </p:spPr>
        <p:txBody>
          <a:bodyPr wrap="square" lIns="0" tIns="0" rIns="0" bIns="0"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Optimized Data Retrieval
</a:t>
            </a:r>
            <a:endParaRPr lang="en-US" sz="1250" dirty="0"/>
          </a:p>
          <a:p>
            <a:pPr marL="0" indent="0">
              <a:lnSpc>
                <a:spcPct val="108000"/>
              </a:lnSpc>
              <a:buNone/>
            </a:pPr>
            <a:r>
              <a:rPr lang="en-US" sz="950" dirty="0">
                <a:solidFill>
                  <a:srgbClr val="C9C9D6"/>
                </a:solidFill>
                <a:latin typeface="Calibri" pitchFamily="34" charset="0"/>
                <a:ea typeface="Calibri" pitchFamily="34" charset="-122"/>
                <a:cs typeface="Calibri" pitchFamily="34" charset="-120"/>
              </a:rPr>
              <a:t>Improve search performance by utilizing suitable data structures such as Hash Tables, Tries, and Vectors.</a:t>
            </a:r>
            <a:endParaRPr lang="en-US" sz="1250" dirty="0"/>
          </a:p>
        </p:txBody>
      </p:sp>
      <p:sp>
        <p:nvSpPr>
          <p:cNvPr id="12" name="Shape 10"/>
          <p:cNvSpPr/>
          <p:nvPr/>
        </p:nvSpPr>
        <p:spPr>
          <a:xfrm>
            <a:off x="548640" y="4059936"/>
            <a:ext cx="5440680" cy="1115568"/>
          </a:xfrm>
          <a:prstGeom prst="roundRect">
            <a:avLst>
              <a:gd name="adj" fmla="val 4918"/>
            </a:avLst>
          </a:prstGeom>
          <a:solidFill>
            <a:srgbClr val="252542"/>
          </a:solidFill>
          <a:ln/>
        </p:spPr>
      </p:sp>
      <p:sp>
        <p:nvSpPr>
          <p:cNvPr id="13" name="Shape 11"/>
          <p:cNvSpPr/>
          <p:nvPr/>
        </p:nvSpPr>
        <p:spPr>
          <a:xfrm>
            <a:off x="685800" y="4178808"/>
            <a:ext cx="329184" cy="329184"/>
          </a:xfrm>
          <a:prstGeom prst="ellipse">
            <a:avLst/>
          </a:prstGeom>
          <a:solidFill>
            <a:srgbClr val="990011"/>
          </a:solidFill>
          <a:ln/>
        </p:spPr>
      </p:sp>
      <p:sp>
        <p:nvSpPr>
          <p:cNvPr id="14" name="Text 12"/>
          <p:cNvSpPr/>
          <p:nvPr/>
        </p:nvSpPr>
        <p:spPr>
          <a:xfrm>
            <a:off x="685800" y="417880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43000" y="4114800"/>
            <a:ext cx="4663440" cy="1005840"/>
          </a:xfrm>
          <a:prstGeom prst="rect">
            <a:avLst/>
          </a:prstGeom>
          <a:noFill/>
          <a:ln/>
        </p:spPr>
        <p:txBody>
          <a:bodyPr wrap="square" lIns="0" tIns="0" rIns="0" bIns="0"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Fast Sorting and Filtering
</a:t>
            </a:r>
            <a:endParaRPr lang="en-US" sz="1250" dirty="0"/>
          </a:p>
          <a:p>
            <a:pPr marL="0" indent="0">
              <a:lnSpc>
                <a:spcPct val="108000"/>
              </a:lnSpc>
              <a:buNone/>
            </a:pPr>
            <a:r>
              <a:rPr lang="en-US" sz="950" dirty="0">
                <a:solidFill>
                  <a:srgbClr val="C9C9D6"/>
                </a:solidFill>
                <a:latin typeface="Calibri" pitchFamily="34" charset="0"/>
                <a:ea typeface="Calibri" pitchFamily="34" charset="-122"/>
                <a:cs typeface="Calibri" pitchFamily="34" charset="-120"/>
              </a:rPr>
              <a:t>Organize movie records efficiently using algorithms like Merge Sort and Quick Sort, allowing users to retrieve sorted movie lists.</a:t>
            </a:r>
            <a:endParaRPr lang="en-US" sz="1250" dirty="0"/>
          </a:p>
        </p:txBody>
      </p:sp>
      <p:sp>
        <p:nvSpPr>
          <p:cNvPr id="16" name="Shape 14"/>
          <p:cNvSpPr/>
          <p:nvPr/>
        </p:nvSpPr>
        <p:spPr>
          <a:xfrm>
            <a:off x="548640" y="5266944"/>
            <a:ext cx="5440680" cy="1115568"/>
          </a:xfrm>
          <a:prstGeom prst="roundRect">
            <a:avLst>
              <a:gd name="adj" fmla="val 4918"/>
            </a:avLst>
          </a:prstGeom>
          <a:solidFill>
            <a:srgbClr val="252542"/>
          </a:solidFill>
          <a:ln/>
        </p:spPr>
      </p:sp>
      <p:sp>
        <p:nvSpPr>
          <p:cNvPr id="17" name="Shape 15"/>
          <p:cNvSpPr/>
          <p:nvPr/>
        </p:nvSpPr>
        <p:spPr>
          <a:xfrm>
            <a:off x="685800" y="5385816"/>
            <a:ext cx="329184" cy="329184"/>
          </a:xfrm>
          <a:prstGeom prst="ellipse">
            <a:avLst/>
          </a:prstGeom>
          <a:solidFill>
            <a:srgbClr val="990011"/>
          </a:solidFill>
          <a:ln/>
        </p:spPr>
      </p:sp>
      <p:sp>
        <p:nvSpPr>
          <p:cNvPr id="18" name="Text 16"/>
          <p:cNvSpPr/>
          <p:nvPr/>
        </p:nvSpPr>
        <p:spPr>
          <a:xfrm>
            <a:off x="685800" y="538581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43000" y="5321808"/>
            <a:ext cx="4663440" cy="1005840"/>
          </a:xfrm>
          <a:prstGeom prst="rect">
            <a:avLst/>
          </a:prstGeom>
          <a:noFill/>
          <a:ln/>
        </p:spPr>
        <p:txBody>
          <a:bodyPr wrap="square" lIns="0" tIns="0" rIns="0" bIns="0"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Performance Analysis
</a:t>
            </a:r>
            <a:endParaRPr lang="en-US" sz="1250" dirty="0"/>
          </a:p>
          <a:p>
            <a:pPr marL="0" indent="0">
              <a:lnSpc>
                <a:spcPct val="108000"/>
              </a:lnSpc>
              <a:buNone/>
            </a:pPr>
            <a:r>
              <a:rPr lang="en-US" sz="950" dirty="0">
                <a:solidFill>
                  <a:srgbClr val="C9C9D6"/>
                </a:solidFill>
                <a:latin typeface="Calibri" pitchFamily="34" charset="0"/>
                <a:ea typeface="Calibri" pitchFamily="34" charset="-122"/>
                <a:cs typeface="Calibri" pitchFamily="34" charset="-120"/>
              </a:rPr>
              <a:t>Compare different searching and sorting algorithms based on execution time and time complexity (Big-O Analysis).</a:t>
            </a:r>
            <a:endParaRPr lang="en-US" sz="1250" dirty="0"/>
          </a:p>
        </p:txBody>
      </p:sp>
      <p:sp>
        <p:nvSpPr>
          <p:cNvPr id="20" name="Shape 18"/>
          <p:cNvSpPr/>
          <p:nvPr/>
        </p:nvSpPr>
        <p:spPr>
          <a:xfrm>
            <a:off x="6172200" y="1645920"/>
            <a:ext cx="5440680" cy="1115568"/>
          </a:xfrm>
          <a:prstGeom prst="roundRect">
            <a:avLst>
              <a:gd name="adj" fmla="val 4918"/>
            </a:avLst>
          </a:prstGeom>
          <a:solidFill>
            <a:srgbClr val="252542"/>
          </a:solidFill>
          <a:ln/>
        </p:spPr>
      </p:sp>
      <p:sp>
        <p:nvSpPr>
          <p:cNvPr id="21" name="Shape 19"/>
          <p:cNvSpPr/>
          <p:nvPr/>
        </p:nvSpPr>
        <p:spPr>
          <a:xfrm>
            <a:off x="6309360" y="1764792"/>
            <a:ext cx="329184" cy="329184"/>
          </a:xfrm>
          <a:prstGeom prst="ellipse">
            <a:avLst/>
          </a:prstGeom>
          <a:solidFill>
            <a:srgbClr val="990011"/>
          </a:solidFill>
          <a:ln/>
        </p:spPr>
      </p:sp>
      <p:sp>
        <p:nvSpPr>
          <p:cNvPr id="22" name="Text 20"/>
          <p:cNvSpPr/>
          <p:nvPr/>
        </p:nvSpPr>
        <p:spPr>
          <a:xfrm>
            <a:off x="6309360" y="176479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766560" y="1700784"/>
            <a:ext cx="4663440" cy="1005840"/>
          </a:xfrm>
          <a:prstGeom prst="rect">
            <a:avLst/>
          </a:prstGeom>
          <a:noFill/>
          <a:ln/>
        </p:spPr>
        <p:txBody>
          <a:bodyPr wrap="square" lIns="0" tIns="0" rIns="0" bIns="0"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Scalable Search System
</a:t>
            </a:r>
            <a:endParaRPr lang="en-US" sz="1250" dirty="0"/>
          </a:p>
          <a:p>
            <a:pPr marL="0" indent="0">
              <a:lnSpc>
                <a:spcPct val="108000"/>
              </a:lnSpc>
              <a:buNone/>
            </a:pPr>
            <a:r>
              <a:rPr lang="en-US" sz="950" dirty="0">
                <a:solidFill>
                  <a:srgbClr val="C9C9D6"/>
                </a:solidFill>
                <a:latin typeface="Calibri" pitchFamily="34" charset="0"/>
                <a:ea typeface="Calibri" pitchFamily="34" charset="-122"/>
                <a:cs typeface="Calibri" pitchFamily="34" charset="-120"/>
              </a:rPr>
              <a:t>Demonstrate that the implemented algorithms can efficiently handle large movie datasets while maintaining fast response times.</a:t>
            </a:r>
            <a:endParaRPr lang="en-US" sz="1250" dirty="0"/>
          </a:p>
        </p:txBody>
      </p:sp>
      <p:sp>
        <p:nvSpPr>
          <p:cNvPr id="24" name="Shape 22"/>
          <p:cNvSpPr/>
          <p:nvPr/>
        </p:nvSpPr>
        <p:spPr>
          <a:xfrm>
            <a:off x="6172200" y="2852928"/>
            <a:ext cx="5440680" cy="1115568"/>
          </a:xfrm>
          <a:prstGeom prst="roundRect">
            <a:avLst>
              <a:gd name="adj" fmla="val 4918"/>
            </a:avLst>
          </a:prstGeom>
          <a:solidFill>
            <a:srgbClr val="252542"/>
          </a:solidFill>
          <a:ln/>
        </p:spPr>
      </p:sp>
      <p:sp>
        <p:nvSpPr>
          <p:cNvPr id="25" name="Shape 23"/>
          <p:cNvSpPr/>
          <p:nvPr/>
        </p:nvSpPr>
        <p:spPr>
          <a:xfrm>
            <a:off x="6309360" y="2971800"/>
            <a:ext cx="329184" cy="329184"/>
          </a:xfrm>
          <a:prstGeom prst="ellipse">
            <a:avLst/>
          </a:prstGeom>
          <a:solidFill>
            <a:srgbClr val="990011"/>
          </a:solidFill>
          <a:ln/>
        </p:spPr>
      </p:sp>
      <p:sp>
        <p:nvSpPr>
          <p:cNvPr id="26" name="Text 24"/>
          <p:cNvSpPr/>
          <p:nvPr/>
        </p:nvSpPr>
        <p:spPr>
          <a:xfrm>
            <a:off x="6309360" y="297180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6766560" y="2907792"/>
            <a:ext cx="4663440" cy="1005840"/>
          </a:xfrm>
          <a:prstGeom prst="rect">
            <a:avLst/>
          </a:prstGeom>
          <a:noFill/>
          <a:ln/>
        </p:spPr>
        <p:txBody>
          <a:bodyPr wrap="square" lIns="0" tIns="0" rIns="0" bIns="0"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Practical Application of Advanced DSA
</a:t>
            </a:r>
            <a:endParaRPr lang="en-US" sz="1250" dirty="0"/>
          </a:p>
          <a:p>
            <a:pPr marL="0" indent="0">
              <a:lnSpc>
                <a:spcPct val="108000"/>
              </a:lnSpc>
              <a:buNone/>
            </a:pPr>
            <a:r>
              <a:rPr lang="en-US" sz="950" dirty="0">
                <a:solidFill>
                  <a:srgbClr val="C9C9D6"/>
                </a:solidFill>
                <a:latin typeface="Calibri" pitchFamily="34" charset="0"/>
                <a:ea typeface="Calibri" pitchFamily="34" charset="-122"/>
                <a:cs typeface="Calibri" pitchFamily="34" charset="-120"/>
              </a:rPr>
              <a:t>Showcase the implementation of advanced concepts such as string matching, hashing, tries, dynamic programming, and graph algorithms to solve real-world movie search problems.</a:t>
            </a:r>
            <a:endParaRPr lang="en-US" sz="1250" dirty="0"/>
          </a:p>
        </p:txBody>
      </p:sp>
      <p:sp>
        <p:nvSpPr>
          <p:cNvPr id="28" name="Shape 26"/>
          <p:cNvSpPr/>
          <p:nvPr/>
        </p:nvSpPr>
        <p:spPr>
          <a:xfrm>
            <a:off x="6172200" y="4059936"/>
            <a:ext cx="5440680" cy="1115568"/>
          </a:xfrm>
          <a:prstGeom prst="roundRect">
            <a:avLst>
              <a:gd name="adj" fmla="val 4918"/>
            </a:avLst>
          </a:prstGeom>
          <a:solidFill>
            <a:srgbClr val="252542"/>
          </a:solidFill>
          <a:ln/>
        </p:spPr>
      </p:sp>
      <p:sp>
        <p:nvSpPr>
          <p:cNvPr id="29" name="Shape 27"/>
          <p:cNvSpPr/>
          <p:nvPr/>
        </p:nvSpPr>
        <p:spPr>
          <a:xfrm>
            <a:off x="6309360" y="4178808"/>
            <a:ext cx="329184" cy="329184"/>
          </a:xfrm>
          <a:prstGeom prst="ellipse">
            <a:avLst/>
          </a:prstGeom>
          <a:solidFill>
            <a:srgbClr val="990011"/>
          </a:solidFill>
          <a:ln/>
        </p:spPr>
      </p:sp>
      <p:sp>
        <p:nvSpPr>
          <p:cNvPr id="30" name="Text 28"/>
          <p:cNvSpPr/>
          <p:nvPr/>
        </p:nvSpPr>
        <p:spPr>
          <a:xfrm>
            <a:off x="6309360" y="417880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6766560" y="4114800"/>
            <a:ext cx="4663440" cy="1005840"/>
          </a:xfrm>
          <a:prstGeom prst="rect">
            <a:avLst/>
          </a:prstGeom>
          <a:noFill/>
          <a:ln/>
        </p:spPr>
        <p:txBody>
          <a:bodyPr wrap="square" lIns="0" tIns="0" rIns="0" bIns="0"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Improved User Experience
</a:t>
            </a:r>
            <a:endParaRPr lang="en-US" sz="1250" dirty="0"/>
          </a:p>
          <a:p>
            <a:pPr marL="0" indent="0">
              <a:lnSpc>
                <a:spcPct val="108000"/>
              </a:lnSpc>
              <a:buNone/>
            </a:pPr>
            <a:r>
              <a:rPr lang="en-US" sz="950" dirty="0">
                <a:solidFill>
                  <a:srgbClr val="C9C9D6"/>
                </a:solidFill>
                <a:latin typeface="Calibri" pitchFamily="34" charset="0"/>
                <a:ea typeface="Calibri" pitchFamily="34" charset="-122"/>
                <a:cs typeface="Calibri" pitchFamily="34" charset="-120"/>
              </a:rPr>
              <a:t>Provide accurate search results, auto-complete suggestions, and efficient filtering, reducing the time required to discover relevant movies.</a:t>
            </a:r>
            <a:endParaRPr lang="en-US" sz="1250" dirty="0"/>
          </a:p>
        </p:txBody>
      </p:sp>
      <p:sp>
        <p:nvSpPr>
          <p:cNvPr id="32" name="Shape 30"/>
          <p:cNvSpPr/>
          <p:nvPr/>
        </p:nvSpPr>
        <p:spPr>
          <a:xfrm>
            <a:off x="6172200" y="5266944"/>
            <a:ext cx="5440680" cy="1115568"/>
          </a:xfrm>
          <a:prstGeom prst="roundRect">
            <a:avLst>
              <a:gd name="adj" fmla="val 4918"/>
            </a:avLst>
          </a:prstGeom>
          <a:solidFill>
            <a:srgbClr val="252542"/>
          </a:solidFill>
          <a:ln/>
        </p:spPr>
      </p:sp>
      <p:sp>
        <p:nvSpPr>
          <p:cNvPr id="33" name="Shape 31"/>
          <p:cNvSpPr/>
          <p:nvPr/>
        </p:nvSpPr>
        <p:spPr>
          <a:xfrm>
            <a:off x="6309360" y="5385816"/>
            <a:ext cx="329184" cy="329184"/>
          </a:xfrm>
          <a:prstGeom prst="ellipse">
            <a:avLst/>
          </a:prstGeom>
          <a:solidFill>
            <a:srgbClr val="990011"/>
          </a:solidFill>
          <a:ln/>
        </p:spPr>
      </p:sp>
      <p:sp>
        <p:nvSpPr>
          <p:cNvPr id="34" name="Text 32"/>
          <p:cNvSpPr/>
          <p:nvPr/>
        </p:nvSpPr>
        <p:spPr>
          <a:xfrm>
            <a:off x="6309360" y="538581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5" name="Text 33"/>
          <p:cNvSpPr/>
          <p:nvPr/>
        </p:nvSpPr>
        <p:spPr>
          <a:xfrm>
            <a:off x="6766560" y="5321808"/>
            <a:ext cx="4663440" cy="1005840"/>
          </a:xfrm>
          <a:prstGeom prst="rect">
            <a:avLst/>
          </a:prstGeom>
          <a:noFill/>
          <a:ln/>
        </p:spPr>
        <p:txBody>
          <a:bodyPr wrap="square" lIns="0" tIns="0" rIns="0" bIns="0"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Achievement of Course Outcomes
</a:t>
            </a:r>
            <a:endParaRPr lang="en-US" sz="1250" dirty="0"/>
          </a:p>
          <a:p>
            <a:pPr marL="0" indent="0">
              <a:lnSpc>
                <a:spcPct val="108000"/>
              </a:lnSpc>
              <a:buNone/>
            </a:pPr>
            <a:r>
              <a:rPr lang="en-US" sz="950" dirty="0">
                <a:solidFill>
                  <a:srgbClr val="C9C9D6"/>
                </a:solidFill>
                <a:latin typeface="Calibri" pitchFamily="34" charset="0"/>
                <a:ea typeface="Calibri" pitchFamily="34" charset="-122"/>
                <a:cs typeface="Calibri" pitchFamily="34" charset="-120"/>
              </a:rPr>
              <a:t>Demonstrate the practical application of the advanced algorithms covered in the course, including substring searching, dynamic programming, graph algorithms, randomized algorithms, and algorithm complexity analysis.</a:t>
            </a:r>
            <a:endParaRPr lang="en-US" sz="1250" dirty="0"/>
          </a:p>
        </p:txBody>
      </p:sp>
      <p:sp>
        <p:nvSpPr>
          <p:cNvPr id="36" name="Text 34"/>
          <p:cNvSpPr/>
          <p:nvPr/>
        </p:nvSpPr>
        <p:spPr>
          <a:xfrm>
            <a:off x="457200" y="6537960"/>
            <a:ext cx="3657600" cy="274320"/>
          </a:xfrm>
          <a:prstGeom prst="rect">
            <a:avLst/>
          </a:prstGeom>
          <a:noFill/>
          <a:ln/>
        </p:spPr>
        <p:txBody>
          <a:bodyPr wrap="square" lIns="0" tIns="0" rIns="0" bIns="0" rtlCol="0" anchor="ctr"/>
          <a:lstStyle/>
          <a:p>
            <a:pPr marL="0" indent="0">
              <a:buNone/>
            </a:pPr>
            <a:r>
              <a:rPr lang="en-US" sz="1000" dirty="0">
                <a:solidFill>
                  <a:srgbClr val="9A9A9A"/>
                </a:solidFill>
                <a:latin typeface="Calibri" pitchFamily="34" charset="0"/>
                <a:ea typeface="Calibri" pitchFamily="34" charset="-122"/>
                <a:cs typeface="Calibri" pitchFamily="34" charset="-120"/>
              </a:rPr>
              <a:t>Data Structures - 3</a:t>
            </a:r>
            <a:endParaRPr lang="en-US" sz="1000" dirty="0"/>
          </a:p>
        </p:txBody>
      </p:sp>
      <p:sp>
        <p:nvSpPr>
          <p:cNvPr id="37" name="Text 35"/>
          <p:cNvSpPr/>
          <p:nvPr/>
        </p:nvSpPr>
        <p:spPr>
          <a:xfrm>
            <a:off x="11247120" y="6537960"/>
            <a:ext cx="457200" cy="274320"/>
          </a:xfrm>
          <a:prstGeom prst="rect">
            <a:avLst/>
          </a:prstGeom>
          <a:noFill/>
          <a:ln/>
        </p:spPr>
        <p:txBody>
          <a:bodyPr wrap="square" lIns="0" tIns="0" rIns="0" bIns="0" rtlCol="0" anchor="ctr"/>
          <a:lstStyle/>
          <a:p>
            <a:pPr marL="0" indent="0" algn="r">
              <a:buNone/>
            </a:pPr>
            <a:r>
              <a:rPr lang="en-US" sz="1000" dirty="0">
                <a:solidFill>
                  <a:srgbClr val="9A9A9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1015</Words>
  <Application>Microsoft Office PowerPoint</Application>
  <PresentationFormat>Widescreen</PresentationFormat>
  <Paragraphs>107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RITVIK REDDY</cp:lastModifiedBy>
  <cp:revision>3</cp:revision>
  <dcterms:created xsi:type="dcterms:W3CDTF">2026-08-04T13:28:03Z</dcterms:created>
  <dcterms:modified xsi:type="dcterms:W3CDTF">2026-08-04T13:32:17Z</dcterms:modified>
</cp:coreProperties>
</file>